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2" r:id="rId4"/>
  </p:sldMasterIdLst>
  <p:notesMasterIdLst>
    <p:notesMasterId r:id="rId37"/>
  </p:notesMasterIdLst>
  <p:handoutMasterIdLst>
    <p:handoutMasterId r:id="rId38"/>
  </p:handoutMasterIdLst>
  <p:sldIdLst>
    <p:sldId id="256" r:id="rId5"/>
    <p:sldId id="729" r:id="rId6"/>
    <p:sldId id="749" r:id="rId7"/>
    <p:sldId id="802" r:id="rId8"/>
    <p:sldId id="809" r:id="rId9"/>
    <p:sldId id="810" r:id="rId10"/>
    <p:sldId id="842" r:id="rId11"/>
    <p:sldId id="772" r:id="rId12"/>
    <p:sldId id="501" r:id="rId13"/>
    <p:sldId id="549" r:id="rId14"/>
    <p:sldId id="546" r:id="rId15"/>
    <p:sldId id="547" r:id="rId16"/>
    <p:sldId id="555" r:id="rId17"/>
    <p:sldId id="803" r:id="rId18"/>
    <p:sldId id="804" r:id="rId19"/>
    <p:sldId id="805" r:id="rId20"/>
    <p:sldId id="806" r:id="rId21"/>
    <p:sldId id="817" r:id="rId22"/>
    <p:sldId id="812" r:id="rId23"/>
    <p:sldId id="813" r:id="rId24"/>
    <p:sldId id="815" r:id="rId25"/>
    <p:sldId id="824" r:id="rId26"/>
    <p:sldId id="337" r:id="rId27"/>
    <p:sldId id="826" r:id="rId28"/>
    <p:sldId id="669" r:id="rId29"/>
    <p:sldId id="483" r:id="rId30"/>
    <p:sldId id="558" r:id="rId31"/>
    <p:sldId id="820" r:id="rId32"/>
    <p:sldId id="821" r:id="rId33"/>
    <p:sldId id="822" r:id="rId34"/>
    <p:sldId id="823" r:id="rId35"/>
    <p:sldId id="26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D036453-A250-4035-850E-086939306292}">
          <p14:sldIdLst>
            <p14:sldId id="256"/>
            <p14:sldId id="729"/>
            <p14:sldId id="749"/>
          </p14:sldIdLst>
        </p14:section>
        <p14:section name="Default Section" id="{EF2CF1F3-EF66-423A-B957-D3A605122F27}">
          <p14:sldIdLst>
            <p14:sldId id="802"/>
            <p14:sldId id="809"/>
            <p14:sldId id="810"/>
            <p14:sldId id="842"/>
            <p14:sldId id="772"/>
            <p14:sldId id="501"/>
            <p14:sldId id="549"/>
            <p14:sldId id="546"/>
            <p14:sldId id="547"/>
            <p14:sldId id="555"/>
            <p14:sldId id="803"/>
            <p14:sldId id="804"/>
            <p14:sldId id="805"/>
            <p14:sldId id="806"/>
            <p14:sldId id="817"/>
            <p14:sldId id="812"/>
            <p14:sldId id="813"/>
            <p14:sldId id="815"/>
            <p14:sldId id="824"/>
            <p14:sldId id="337"/>
            <p14:sldId id="826"/>
            <p14:sldId id="669"/>
            <p14:sldId id="483"/>
            <p14:sldId id="558"/>
            <p14:sldId id="820"/>
            <p14:sldId id="821"/>
            <p14:sldId id="822"/>
            <p14:sldId id="823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48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876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9" autoAdjust="0"/>
    <p:restoredTop sz="87356" autoAdjust="0"/>
  </p:normalViewPr>
  <p:slideViewPr>
    <p:cSldViewPr snapToGrid="0">
      <p:cViewPr varScale="1">
        <p:scale>
          <a:sx n="64" d="100"/>
          <a:sy n="64" d="100"/>
        </p:scale>
        <p:origin x="1301" y="278"/>
      </p:cViewPr>
      <p:guideLst>
        <p:guide orient="horz" pos="3048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-10456"/>
    </p:cViewPr>
  </p:sorterViewPr>
  <p:notesViewPr>
    <p:cSldViewPr snapToGrid="0">
      <p:cViewPr varScale="1">
        <p:scale>
          <a:sx n="53" d="100"/>
          <a:sy n="53" d="100"/>
        </p:scale>
        <p:origin x="284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44646B-21C0-410B-BA17-64C59EB292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89392C-F5C5-4C38-94CE-455C7F402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C4E2E-64C6-46E6-9EEF-ED611B6593D1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F3D2C-86D2-4CEA-B1B8-750885E16D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DR YASSER ELAWADY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D5F72-69F2-4B4B-A943-B04C4B1E36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EBA49-8001-49C3-9348-7448336215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9060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890AD-4ACA-408F-94CA-F364FF72F1B8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DR YASSER ELAWADY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F15BC-4AA1-41C4-8C26-91A7E3BB93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6768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YASSER ELAWADY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05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ln/>
        </p:spPr>
        <p:txBody>
          <a:bodyPr/>
          <a:lstStyle/>
          <a:p>
            <a:endParaRPr lang="en-US"/>
          </a:p>
        </p:txBody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440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5" name="Google Shape;115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448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16158990e2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16158990e2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3802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16158990e2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16158990e2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4793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D61D3404-E9DB-49AA-BCD6-469940BBAA55}" type="slidenum">
              <a:rPr lang="en-US" sz="1200">
                <a:latin typeface="Times New Roman" panose="02020603050405020304" pitchFamily="18" charset="0"/>
              </a:rPr>
              <a:pPr/>
              <a:t>8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ar-EG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76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14781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D61D3404-E9DB-49AA-BCD6-469940BBAA55}" type="slidenum">
              <a:rPr lang="en-US" sz="1200">
                <a:latin typeface="Times New Roman" panose="02020603050405020304" pitchFamily="18" charset="0"/>
              </a:rPr>
              <a:pPr/>
              <a:t>9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ar-EG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76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99872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D61D3404-E9DB-49AA-BCD6-469940BBAA55}" type="slidenum">
              <a:rPr lang="en-US" sz="1200">
                <a:latin typeface="Times New Roman" panose="02020603050405020304" pitchFamily="18" charset="0"/>
              </a:rPr>
              <a:pPr/>
              <a:t>10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ar-EG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76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22065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D61D3404-E9DB-49AA-BCD6-469940BBAA55}" type="slidenum">
              <a:rPr lang="en-US" sz="1200">
                <a:latin typeface="Times New Roman" panose="02020603050405020304" pitchFamily="18" charset="0"/>
              </a:rPr>
              <a:pPr/>
              <a:t>11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ar-EG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76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85684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D61D3404-E9DB-49AA-BCD6-469940BBAA55}" type="slidenum">
              <a:rPr lang="en-US" sz="1200">
                <a:latin typeface="Times New Roman" panose="02020603050405020304" pitchFamily="18" charset="0"/>
              </a:rPr>
              <a:pPr/>
              <a:t>12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ar-EG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76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908098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D61D3404-E9DB-49AA-BCD6-469940BBAA55}" type="slidenum">
              <a:rPr lang="en-US" sz="1200">
                <a:latin typeface="Times New Roman" panose="02020603050405020304" pitchFamily="18" charset="0"/>
              </a:rPr>
              <a:pPr/>
              <a:t>13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ar-EG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76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444590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95972F65-BF3A-450F-A7FC-17E78E56EF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8B256268-7E16-489A-A95A-6033BB1CC0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/>
              <a:t>Find the sum of integers from </a:t>
            </a:r>
            <a:r>
              <a:rPr lang="en-US" altLang="en-US" sz="1200" u="sng"/>
              <a:t>1</a:t>
            </a:r>
            <a:r>
              <a:rPr lang="en-US" altLang="en-US" sz="1200"/>
              <a:t> to </a:t>
            </a:r>
            <a:r>
              <a:rPr lang="en-US" altLang="en-US" sz="1200" u="sng"/>
              <a:t>10</a:t>
            </a:r>
            <a:r>
              <a:rPr lang="en-US" altLang="en-US" sz="1200"/>
              <a:t>, from </a:t>
            </a:r>
            <a:r>
              <a:rPr lang="en-US" altLang="en-US" sz="1200" u="sng"/>
              <a:t>20</a:t>
            </a:r>
            <a:r>
              <a:rPr lang="en-US" altLang="en-US" sz="1200"/>
              <a:t> to </a:t>
            </a:r>
            <a:r>
              <a:rPr lang="en-US" altLang="en-US" sz="1200" u="sng"/>
              <a:t>37</a:t>
            </a:r>
            <a:r>
              <a:rPr lang="en-US" altLang="en-US" sz="1200"/>
              <a:t>, and from </a:t>
            </a:r>
            <a:r>
              <a:rPr lang="en-US" altLang="en-US" sz="1200" u="sng"/>
              <a:t>35</a:t>
            </a:r>
            <a:r>
              <a:rPr lang="en-US" altLang="en-US" sz="1200"/>
              <a:t> to </a:t>
            </a:r>
            <a:r>
              <a:rPr lang="en-US" altLang="en-US" sz="1200" u="sng"/>
              <a:t>49</a:t>
            </a:r>
            <a:r>
              <a:rPr lang="en-US" altLang="en-US" sz="1200"/>
              <a:t>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17980162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75B9354-D1C0-4F72-B4CA-5E0003ABA4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D028A51-4B81-4ED4-B7DD-F11ED567D7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95965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75B9354-D1C0-4F72-B4CA-5E0003ABA4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D028A51-4B81-4ED4-B7DD-F11ED567D7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7410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75B9354-D1C0-4F72-B4CA-5E0003ABA4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D028A51-4B81-4ED4-B7DD-F11ED567D7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5958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0A6AEDD6-C424-456C-99B0-71D4E3A468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5C47F2BA-CC49-4EA9-A44F-51B7EDE00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55436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0A6AEDD6-C424-456C-99B0-71D4E3A468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5C47F2BA-CC49-4EA9-A44F-51B7EDE00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92603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B0865B87-D6F9-4CC8-A42B-69651B0083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2E138DCA-E293-4B42-B94A-B06842604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dirty="0"/>
              <a:t>Ambiguous </a:t>
            </a:r>
            <a:r>
              <a:rPr lang="ar-EG" altLang="en-US" dirty="0"/>
              <a:t>غامض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189415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CB65A805-CE8A-4D7E-BBB2-D082C80141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D5B9D2B3-747E-4E26-86F4-9A6CDEF3C8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8304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8DECB818-6E81-4899-9316-D4527FBCE9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FBB110A8-90B4-41C3-9CE5-460FD34C1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CB65A805-CE8A-4D7E-BBB2-D082C80141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D5B9D2B3-747E-4E26-86F4-9A6CDEF3C8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1765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8DECB818-6E81-4899-9316-D4527FBCE9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FBB110A8-90B4-41C3-9CE5-460FD34C1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01481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D30B3EBD-725C-4DDE-8002-A5E26E8369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5EB3EA98-B8B6-45EA-9393-1D1FA12F4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D61D3404-E9DB-49AA-BCD6-469940BBAA55}" type="slidenum">
              <a:rPr lang="en-US" sz="1200">
                <a:latin typeface="Times New Roman" panose="02020603050405020304" pitchFamily="18" charset="0"/>
              </a:rPr>
              <a:pPr/>
              <a:t>27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ar-EG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76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046307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8291FC3D-D5A9-4B1B-904C-5CB78A896D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C702C224-41EA-4F95-B831-DE3211D4E5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dirty="0"/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2226103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0FFA7FE8-C7C7-4B28-AAD0-0B48ECAA1A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A85FFCBF-8DB1-460A-ACC9-6CB9B94727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54851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966B686D-89BD-4759-8048-EAFDA12601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F4EDA356-462C-4192-9B4D-C6414555D3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320211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966B686D-89BD-4759-8048-EAFDA12601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F4EDA356-462C-4192-9B4D-C6414555D3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65276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32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YASSER ELAWADY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06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0123248" y="6492875"/>
            <a:ext cx="106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FF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479" y="6506323"/>
            <a:ext cx="2135114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22610" y="6479426"/>
            <a:ext cx="4228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1ED4FA-EC91-9C84-A251-D83C2D432B95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7" y="559061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8CC2A3-61C6-9BC7-2349-53246792A5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65381" y="601200"/>
            <a:ext cx="1975275" cy="75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 userDrawn="1"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9B75C-8747-A145-88F3-BD0797C34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8CA58B-1202-27F5-4A00-14688F06C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F85D18-B98F-4E7D-198E-2503991A6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002060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43DF1A-F8AF-1860-C16C-1519FAB018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70192" y="134180"/>
            <a:ext cx="1975275" cy="75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35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9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4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452763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927351" y="5373689"/>
            <a:ext cx="7103533" cy="750887"/>
          </a:xfrm>
        </p:spPr>
        <p:txBody>
          <a:bodyPr/>
          <a:lstStyle>
            <a:lvl1pPr>
              <a:defRPr sz="2800" b="1"/>
            </a:lvl1pPr>
          </a:lstStyle>
          <a:p>
            <a:pPr lvl="0"/>
            <a:r>
              <a:rPr lang="en-US" noProof="0"/>
              <a:t>Click to edit Master title style</a:t>
            </a:r>
            <a:endParaRPr lang="ru-RU" noProof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27351" y="6094414"/>
            <a:ext cx="7103533" cy="503237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>
              <a:buFontTx/>
              <a:buNone/>
              <a:defRPr sz="2400" b="1"/>
            </a:lvl1pPr>
          </a:lstStyle>
          <a:p>
            <a:pPr lvl="0"/>
            <a:r>
              <a:rPr lang="en-US" noProof="0"/>
              <a:t>Click to edit Master subtitle style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6822837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userDrawn="1">
  <p:cSld name="Title and body 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AFD95E-62BD-38A5-5BF1-9D992976B49A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2820" y="260887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2472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23248" y="6492875"/>
            <a:ext cx="106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FF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479" y="6506323"/>
            <a:ext cx="2135114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22610" y="6479426"/>
            <a:ext cx="4228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446534" y="6492873"/>
            <a:ext cx="11298934" cy="2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5" r:id="rId12"/>
    <p:sldLayoutId id="2147483689" r:id="rId13"/>
    <p:sldLayoutId id="2147483695" r:id="rId14"/>
    <p:sldLayoutId id="2147483697" r:id="rId1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0.png"/><Relationship Id="rId4" Type="http://schemas.openxmlformats.org/officeDocument/2006/relationships/image" Target="../media/image13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81191" y="4428067"/>
            <a:ext cx="11462472" cy="1372887"/>
          </a:xfrm>
        </p:spPr>
        <p:txBody>
          <a:bodyPr>
            <a:noAutofit/>
          </a:bodyPr>
          <a:lstStyle/>
          <a:p>
            <a:pPr marL="76200">
              <a:lnSpc>
                <a:spcPct val="150000"/>
              </a:lnSpc>
            </a:pPr>
            <a:r>
              <a:rPr lang="en-US" sz="3600" b="1" u="sng" dirty="0">
                <a:solidFill>
                  <a:srgbClr val="FFFFCC"/>
                </a:solidFill>
              </a:rPr>
              <a:t>Lectures 8</a:t>
            </a:r>
            <a:r>
              <a:rPr lang="en-US" sz="3600" b="1" dirty="0">
                <a:solidFill>
                  <a:srgbClr val="FFC000"/>
                </a:solidFill>
              </a:rPr>
              <a:t>  </a:t>
            </a:r>
            <a:r>
              <a:rPr lang="en-US" sz="3200" b="1" dirty="0">
                <a:solidFill>
                  <a:srgbClr val="FFFFCC"/>
                </a:solidFill>
              </a:rPr>
              <a:t>Functions</a:t>
            </a:r>
            <a:endParaRPr lang="en-US" sz="2400" dirty="0">
              <a:solidFill>
                <a:srgbClr val="FFFFCC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5058" y="5822650"/>
            <a:ext cx="5737332" cy="484822"/>
          </a:xfrm>
        </p:spPr>
        <p:txBody>
          <a:bodyPr>
            <a:normAutofit/>
          </a:bodyPr>
          <a:lstStyle/>
          <a:p>
            <a:pPr algn="r"/>
            <a:r>
              <a:rPr lang="en-US" sz="1800" b="1" dirty="0">
                <a:solidFill>
                  <a:srgbClr val="FFFFCC"/>
                </a:solidFill>
              </a:rPr>
              <a:t>Fall (2025-2026)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99180" y="3704630"/>
            <a:ext cx="882080" cy="576262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BB89D2-1F78-CF8D-0CB0-7B85B5DC8A50}"/>
              </a:ext>
            </a:extLst>
          </p:cNvPr>
          <p:cNvSpPr/>
          <p:nvPr/>
        </p:nvSpPr>
        <p:spPr>
          <a:xfrm>
            <a:off x="581191" y="1206665"/>
            <a:ext cx="653332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PROGRAMMING 1</a:t>
            </a:r>
          </a:p>
          <a:p>
            <a:pPr algn="ctr"/>
            <a:r>
              <a:rPr 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(CS 102)</a:t>
            </a:r>
          </a:p>
        </p:txBody>
      </p:sp>
      <p:sp>
        <p:nvSpPr>
          <p:cNvPr id="9" name="AutoShape 2" descr="Coding Clipart Guy In Glasses Computer Tech Cartoon Vector ...">
            <a:extLst>
              <a:ext uri="{FF2B5EF4-FFF2-40B4-BE49-F238E27FC236}">
                <a16:creationId xmlns:a16="http://schemas.microsoft.com/office/drawing/2014/main" id="{999E07D1-2798-6AFF-8297-F8D1DCEAE0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090039-68EA-49BB-C111-B123F2C7348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680" y="628458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09" y="1002793"/>
            <a:ext cx="8272462" cy="760810"/>
          </a:xfrm>
        </p:spPr>
        <p:txBody>
          <a:bodyPr/>
          <a:lstStyle/>
          <a:p>
            <a:pPr>
              <a:defRPr/>
            </a:pPr>
            <a:r>
              <a:rPr lang="en-US" sz="3200" b="1" u="sng" dirty="0"/>
              <a:t>Course Learning Objectives</a:t>
            </a:r>
          </a:p>
        </p:txBody>
      </p:sp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xfrm>
            <a:off x="379400" y="2778760"/>
            <a:ext cx="11433200" cy="2758678"/>
          </a:xfrm>
        </p:spPr>
        <p:txBody>
          <a:bodyPr rtlCol="0"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1814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Explain and define fundamental programming concepts, including variables, data types, the sequential nature of program execution, and basic program input/output (I/O).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1814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Trace and debug simple programs to identify and correct basic syntax and logical errors.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1814" dirty="0">
                <a:solidFill>
                  <a:schemeClr val="bg1">
                    <a:lumMod val="75000"/>
                  </a:schemeClr>
                </a:solidFill>
              </a:rPr>
              <a:t>Apply basic programing concepts, such as conditional statements, loops, and functions, to solve small scale computational problems.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1814" b="1" dirty="0">
                <a:solidFill>
                  <a:srgbClr val="002060"/>
                </a:solidFill>
              </a:rPr>
              <a:t>Decompose problems into smaller, manageable subroutines, and implement basic functions to enhance code modularity and reusability.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1814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Collaborate with peers Work in a team to design and implement a software project that meets specific functional requirements.</a:t>
            </a:r>
          </a:p>
        </p:txBody>
      </p:sp>
      <p:sp>
        <p:nvSpPr>
          <p:cNvPr id="23557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0994812" y="6444943"/>
            <a:ext cx="770468" cy="3650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>
                <a:solidFill>
                  <a:schemeClr val="tx2"/>
                </a:solidFill>
                <a:latin typeface="Gill Sans MT" panose="020B0502020104020203" pitchFamily="34" charset="0"/>
              </a:defRPr>
            </a:lvl1pPr>
            <a:lvl2pPr marL="417908" indent="-160734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642934" indent="-128587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050">
                <a:solidFill>
                  <a:schemeClr val="tx2"/>
                </a:solidFill>
                <a:latin typeface="Gill Sans MT" panose="020B0502020104020203" pitchFamily="34" charset="0"/>
              </a:defRPr>
            </a:lvl3pPr>
            <a:lvl4pPr marL="900107" indent="-128587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4pPr>
            <a:lvl5pPr marL="1157281" indent="-128587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5pPr>
            <a:lvl6pPr marL="1500178" indent="-128587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6pPr>
            <a:lvl7pPr marL="1843076" indent="-128587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7pPr>
            <a:lvl8pPr marL="2185975" indent="-128587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8pPr>
            <a:lvl9pPr marL="2528872" indent="-128587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8BF91E0-0E5B-4EFC-98D2-085973D90B5B}" type="slidenum">
              <a:rPr lang="en-US" altLang="en-US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</a:t>
            </a:fld>
            <a:endParaRPr lang="en-US" altLang="en-US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9F200A-3FAB-3CF9-1CEA-EDDAA77C3B0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8490" y="848606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5514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/>
          <p:nvPr/>
        </p:nvSpPr>
        <p:spPr>
          <a:xfrm>
            <a:off x="7249650" y="1766865"/>
            <a:ext cx="1875600" cy="1852800"/>
          </a:xfrm>
          <a:prstGeom prst="ellipse">
            <a:avLst/>
          </a:prstGeom>
          <a:noFill/>
          <a:ln w="9525" cap="flat" cmpd="sng">
            <a:solidFill>
              <a:srgbClr val="CF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20" name="Google Shape;120;p18"/>
          <p:cNvCxnSpPr/>
          <p:nvPr/>
        </p:nvCxnSpPr>
        <p:spPr>
          <a:xfrm rot="10800000" flipH="1">
            <a:off x="8329299" y="1398202"/>
            <a:ext cx="143700" cy="3771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" name="Google Shape;121;p18"/>
          <p:cNvCxnSpPr/>
          <p:nvPr/>
        </p:nvCxnSpPr>
        <p:spPr>
          <a:xfrm flipH="1">
            <a:off x="8975750" y="2039375"/>
            <a:ext cx="337200" cy="1311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8"/>
          <p:cNvCxnSpPr>
            <a:endCxn id="117" idx="6"/>
          </p:cNvCxnSpPr>
          <p:nvPr/>
        </p:nvCxnSpPr>
        <p:spPr>
          <a:xfrm rot="10800000">
            <a:off x="9125250" y="2693265"/>
            <a:ext cx="998100" cy="981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" name="Google Shape;123;p18"/>
          <p:cNvSpPr/>
          <p:nvPr/>
        </p:nvSpPr>
        <p:spPr>
          <a:xfrm>
            <a:off x="7399408" y="1914787"/>
            <a:ext cx="1576200" cy="1556700"/>
          </a:xfrm>
          <a:prstGeom prst="ellipse">
            <a:avLst/>
          </a:prstGeom>
          <a:noFill/>
          <a:ln w="19050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639" y="2046462"/>
            <a:ext cx="1171413" cy="1316864"/>
          </a:xfrm>
          <a:prstGeom prst="rect">
            <a:avLst/>
          </a:prstGeom>
        </p:spPr>
      </p:pic>
      <p:sp>
        <p:nvSpPr>
          <p:cNvPr id="11" name="Google Shape;110;p17"/>
          <p:cNvSpPr txBox="1">
            <a:spLocks/>
          </p:cNvSpPr>
          <p:nvPr/>
        </p:nvSpPr>
        <p:spPr>
          <a:xfrm>
            <a:off x="699970" y="1678558"/>
            <a:ext cx="5396030" cy="668625"/>
          </a:xfrm>
          <a:prstGeom prst="rect">
            <a:avLst/>
          </a:prstGeom>
        </p:spPr>
        <p:txBody>
          <a:bodyPr spcFirstLastPara="1" vert="horz" wrap="square" lIns="91425" tIns="91425" rIns="91425" bIns="91425" numCol="1" anchor="b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2"/>
                </a:solidFill>
                <a:latin typeface="Arial" charset="0"/>
              </a:defRPr>
            </a:lvl9pPr>
          </a:lstStyle>
          <a:p>
            <a:r>
              <a:rPr lang="en-US" sz="2800" b="1" kern="0" dirty="0">
                <a:solidFill>
                  <a:srgbClr val="C00000"/>
                </a:solidFill>
              </a:rPr>
              <a:t>Content</a:t>
            </a:r>
          </a:p>
        </p:txBody>
      </p:sp>
      <p:sp>
        <p:nvSpPr>
          <p:cNvPr id="2" name="Google Shape;118;p18">
            <a:extLst>
              <a:ext uri="{FF2B5EF4-FFF2-40B4-BE49-F238E27FC236}">
                <a16:creationId xmlns:a16="http://schemas.microsoft.com/office/drawing/2014/main" id="{CF326D8E-1874-155A-FFBE-9C03BF1D9C2D}"/>
              </a:ext>
            </a:extLst>
          </p:cNvPr>
          <p:cNvSpPr txBox="1">
            <a:spLocks/>
          </p:cNvSpPr>
          <p:nvPr/>
        </p:nvSpPr>
        <p:spPr>
          <a:xfrm>
            <a:off x="2596396" y="910417"/>
            <a:ext cx="7716837" cy="679213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b" anchorCtr="0" compatLnSpc="1">
            <a:prstTxWarp prst="textNoShape">
              <a:avLst/>
            </a:prstTxWarp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" b="1" dirty="0">
                <a:solidFill>
                  <a:srgbClr val="0070C0"/>
                </a:solidFill>
              </a:rPr>
              <a:t>Lecture 8 :   </a:t>
            </a:r>
            <a:r>
              <a:rPr lang="en-US" b="1" dirty="0">
                <a:solidFill>
                  <a:srgbClr val="0070C0"/>
                </a:solidFill>
              </a:rPr>
              <a:t>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7EFED-D691-17DA-513B-FED93CD7A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Google Shape;119;p18">
            <a:extLst>
              <a:ext uri="{FF2B5EF4-FFF2-40B4-BE49-F238E27FC236}">
                <a16:creationId xmlns:a16="http://schemas.microsoft.com/office/drawing/2014/main" id="{0AA3ADF9-D059-F166-A27F-61056BA3943A}"/>
              </a:ext>
            </a:extLst>
          </p:cNvPr>
          <p:cNvSpPr txBox="1">
            <a:spLocks/>
          </p:cNvSpPr>
          <p:nvPr/>
        </p:nvSpPr>
        <p:spPr>
          <a:xfrm>
            <a:off x="1898331" y="2258876"/>
            <a:ext cx="5426198" cy="2617925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000" b="1" dirty="0"/>
              <a:t>Predefined Functions</a:t>
            </a:r>
          </a:p>
          <a:p>
            <a:pPr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000" b="1" dirty="0"/>
              <a:t>Programmer-defined Functions</a:t>
            </a:r>
          </a:p>
          <a:p>
            <a:pPr>
              <a:lnSpc>
                <a:spcPct val="150000"/>
              </a:lnSpc>
              <a:buFont typeface="+mj-lt"/>
              <a:buAutoNum type="arabicPeriod"/>
              <a:defRPr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13862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26">
            <a:extLst>
              <a:ext uri="{FF2B5EF4-FFF2-40B4-BE49-F238E27FC236}">
                <a16:creationId xmlns:a16="http://schemas.microsoft.com/office/drawing/2014/main" id="{8A32E2FD-49AF-434D-8986-7CB3B3FE5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745" y="1129264"/>
            <a:ext cx="8137002" cy="203105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1.Predefined Functions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D854D7-1D05-4FE2-AF25-259B5EB6EC6B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6AB0FD-FEC1-BCC2-C678-CD886B5C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C11BF0-C609-DD9D-F121-7A832F3F5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342" y="1493431"/>
            <a:ext cx="2754289" cy="357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568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body" idx="4294967295"/>
          </p:nvPr>
        </p:nvSpPr>
        <p:spPr>
          <a:xfrm>
            <a:off x="304800" y="1664063"/>
            <a:ext cx="5262880" cy="4403624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marL="413068" indent="-285750">
              <a:lnSpc>
                <a:spcPct val="150000"/>
              </a:lnSpc>
              <a:buClr>
                <a:schemeClr val="dk1"/>
              </a:buClr>
              <a:buSzPts val="1595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dk1"/>
                </a:solidFill>
              </a:rPr>
              <a:t>C++ comes with libraries of predefined functions that you can use in your programs.</a:t>
            </a:r>
          </a:p>
          <a:p>
            <a:pPr marL="413068" indent="-285750">
              <a:lnSpc>
                <a:spcPct val="150000"/>
              </a:lnSpc>
              <a:buClr>
                <a:schemeClr val="dk1"/>
              </a:buClr>
              <a:buSzPts val="1595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dk1"/>
                </a:solidFill>
              </a:rPr>
              <a:t>Using </a:t>
            </a:r>
            <a:r>
              <a:rPr lang="en-US" sz="2000" b="1" dirty="0">
                <a:solidFill>
                  <a:srgbClr val="C00000"/>
                </a:solidFill>
              </a:rPr>
              <a:t>#include </a:t>
            </a:r>
            <a:r>
              <a:rPr lang="en-US" sz="2000" dirty="0">
                <a:solidFill>
                  <a:schemeClr val="dk1"/>
                </a:solidFill>
              </a:rPr>
              <a:t>to include a library, for example:</a:t>
            </a:r>
            <a:br>
              <a:rPr lang="en-US" sz="2000" dirty="0">
                <a:solidFill>
                  <a:schemeClr val="dk1"/>
                </a:solidFill>
              </a:rPr>
            </a:br>
            <a:r>
              <a:rPr lang="en-US" sz="2000" dirty="0">
                <a:solidFill>
                  <a:schemeClr val="dk1"/>
                </a:solidFill>
              </a:rPr>
              <a:t>                </a:t>
            </a:r>
            <a:r>
              <a:rPr lang="af-ZA" sz="2000" b="1" dirty="0">
                <a:solidFill>
                  <a:srgbClr val="C00000"/>
                </a:solidFill>
              </a:rPr>
              <a:t>#include &lt;cmath&gt;</a:t>
            </a:r>
            <a:endParaRPr lang="en-US" sz="2000" b="1" dirty="0">
              <a:solidFill>
                <a:srgbClr val="C00000"/>
              </a:solidFill>
            </a:endParaRPr>
          </a:p>
          <a:p>
            <a:pPr marL="413068" indent="-285750">
              <a:lnSpc>
                <a:spcPct val="150000"/>
              </a:lnSpc>
              <a:buClr>
                <a:schemeClr val="dk1"/>
              </a:buClr>
              <a:buSzPts val="1595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dk1"/>
                </a:solidFill>
              </a:rPr>
              <a:t>You can see more predefined functions.</a:t>
            </a:r>
            <a:br>
              <a:rPr lang="en-US" sz="2000" dirty="0">
                <a:solidFill>
                  <a:schemeClr val="dk1"/>
                </a:solidFill>
              </a:rPr>
            </a:br>
            <a:endParaRPr lang="af-ZA" sz="2000" dirty="0"/>
          </a:p>
          <a:p>
            <a:pPr marL="127318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r>
              <a:rPr lang="af-ZA" sz="2000" dirty="0"/>
              <a:t> </a:t>
            </a:r>
            <a:br>
              <a:rPr lang="af-ZA" sz="2000" dirty="0"/>
            </a:br>
            <a:endParaRPr lang="en-US" sz="2000" dirty="0">
              <a:solidFill>
                <a:schemeClr val="dk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242" y="1175853"/>
            <a:ext cx="6730678" cy="50463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30DE2B-CCA5-76E9-B15C-F9DC8BB7E67D}"/>
              </a:ext>
            </a:extLst>
          </p:cNvPr>
          <p:cNvSpPr txBox="1"/>
          <p:nvPr/>
        </p:nvSpPr>
        <p:spPr>
          <a:xfrm>
            <a:off x="2926080" y="52419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af-ZA" sz="2800" b="1" cap="all" dirty="0">
                <a:solidFill>
                  <a:srgbClr val="C00000"/>
                </a:solidFill>
                <a:latin typeface="+mj-lt"/>
                <a:ea typeface="+mj-ea"/>
                <a:cs typeface="+mj-cs"/>
                <a:sym typeface="Arial"/>
              </a:rPr>
              <a:t>Predefined Functions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C35663-88F3-AAB3-30DE-0F40B6E4F6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3777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 idx="4294967295"/>
          </p:nvPr>
        </p:nvSpPr>
        <p:spPr>
          <a:xfrm>
            <a:off x="1835700" y="9974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>
              <a:buSzPts val="990"/>
            </a:pPr>
            <a:r>
              <a:rPr lang="en-US" sz="3220" dirty="0"/>
              <a:t>C++ Libraries</a:t>
            </a:r>
            <a:endParaRPr sz="322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9946" y="1570175"/>
            <a:ext cx="2525448" cy="1153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87" y="1076960"/>
            <a:ext cx="8305020" cy="538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r="12428"/>
          <a:stretch/>
        </p:blipFill>
        <p:spPr>
          <a:xfrm>
            <a:off x="9409946" y="3098446"/>
            <a:ext cx="2525448" cy="11291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28666" y="1674451"/>
            <a:ext cx="2213973" cy="572700"/>
          </a:xfrm>
          <a:prstGeom prst="rect">
            <a:avLst/>
          </a:prstGeom>
          <a:noFill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4A5E8-3C5C-1345-B492-3B380386CE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AA5D3C-6514-7508-A343-AD494570FB52}"/>
              </a:ext>
            </a:extLst>
          </p:cNvPr>
          <p:cNvSpPr txBox="1"/>
          <p:nvPr/>
        </p:nvSpPr>
        <p:spPr>
          <a:xfrm>
            <a:off x="2926080" y="52419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af-ZA" sz="2800" b="1" cap="all" dirty="0">
                <a:solidFill>
                  <a:srgbClr val="C00000"/>
                </a:solidFill>
                <a:latin typeface="+mj-lt"/>
                <a:ea typeface="+mj-ea"/>
                <a:cs typeface="+mj-cs"/>
                <a:sym typeface="Arial"/>
              </a:rPr>
              <a:t>Predefined Functions</a:t>
            </a:r>
          </a:p>
        </p:txBody>
      </p:sp>
    </p:spTree>
    <p:extLst>
      <p:ext uri="{BB962C8B-B14F-4D97-AF65-F5344CB8AC3E}">
        <p14:creationId xmlns:p14="http://schemas.microsoft.com/office/powerpoint/2010/main" val="72989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B8106-A775-C7F5-5947-52D479F6A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26">
            <a:extLst>
              <a:ext uri="{FF2B5EF4-FFF2-40B4-BE49-F238E27FC236}">
                <a16:creationId xmlns:a16="http://schemas.microsoft.com/office/drawing/2014/main" id="{8B1FF45C-0DB0-E7C9-4C3F-EA8F7FA2A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47" y="1684849"/>
            <a:ext cx="8137002" cy="203105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2.</a:t>
            </a:r>
            <a:r>
              <a:rPr lang="af-ZA" sz="4800" b="1" dirty="0"/>
              <a:t> Programmer-defined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Functions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A5ABA5-1212-CCB0-9B13-0625E1EEE723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959FAA-3F2B-5879-024D-9EDB21F0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ACCF13-D9CB-8645-9265-4971D1D77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252" y="1435261"/>
            <a:ext cx="2772480" cy="359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873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21"/>
          <p:cNvSpPr txBox="1">
            <a:spLocks/>
          </p:cNvSpPr>
          <p:nvPr/>
        </p:nvSpPr>
        <p:spPr>
          <a:xfrm>
            <a:off x="4830502" y="558892"/>
            <a:ext cx="6514684" cy="4756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accent1"/>
              </a:buClr>
              <a:buSzPts val="2000"/>
            </a:pPr>
            <a:r>
              <a:rPr lang="en-US" sz="2800" b="1" cap="all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C++ Functions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509285" y="1600200"/>
            <a:ext cx="11354765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A </a:t>
            </a:r>
            <a:r>
              <a:rPr lang="en-US" sz="2400" b="1" i="1" dirty="0">
                <a:solidFill>
                  <a:srgbClr val="C00000"/>
                </a:solidFill>
                <a:latin typeface="+mn-lt"/>
              </a:rPr>
              <a:t>function</a:t>
            </a:r>
            <a:r>
              <a:rPr lang="en-US" sz="2400" b="1" i="1" dirty="0">
                <a:latin typeface="+mn-lt"/>
              </a:rPr>
              <a:t> </a:t>
            </a:r>
            <a:r>
              <a:rPr lang="en-US" sz="2400" dirty="0">
                <a:latin typeface="+mn-lt"/>
              </a:rPr>
              <a:t>is a block of code which only runs when it is called.</a:t>
            </a: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endParaRPr lang="en-US" sz="2400" dirty="0">
              <a:latin typeface="+mn-lt"/>
            </a:endParaRP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You can pass data, known as parameters, into a </a:t>
            </a:r>
            <a:r>
              <a:rPr lang="en-US" sz="2400" b="1" i="1" dirty="0">
                <a:solidFill>
                  <a:srgbClr val="C00000"/>
                </a:solidFill>
                <a:latin typeface="+mn-lt"/>
              </a:rPr>
              <a:t>function.</a:t>
            </a: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endParaRPr lang="en-US" sz="2400" dirty="0">
              <a:latin typeface="+mn-lt"/>
            </a:endParaRP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Functions are used to perform certain actions, and they are important for </a:t>
            </a:r>
            <a:r>
              <a:rPr lang="en-US" sz="2400" b="1" i="1" dirty="0">
                <a:latin typeface="+mn-lt"/>
              </a:rPr>
              <a:t>reusing code</a:t>
            </a:r>
            <a:r>
              <a:rPr lang="en-US" sz="2400" dirty="0">
                <a:latin typeface="+mn-lt"/>
              </a:rPr>
              <a:t>:</a:t>
            </a:r>
          </a:p>
          <a:p>
            <a:pPr algn="just" eaLnBrk="1" hangingPunct="1"/>
            <a:r>
              <a:rPr lang="en-US" sz="2400" dirty="0">
                <a:latin typeface="+mn-lt"/>
              </a:rPr>
              <a:t> </a:t>
            </a:r>
          </a:p>
          <a:p>
            <a:pPr marL="1714500" lvl="3" indent="-342900" algn="just" eaLnBrk="1" hangingPunct="1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rgbClr val="C00000"/>
                </a:solidFill>
                <a:latin typeface="+mn-lt"/>
              </a:rPr>
              <a:t>Define the code once, and use it many times</a:t>
            </a:r>
            <a:r>
              <a:rPr lang="en-US" sz="2400" b="1" i="1" dirty="0">
                <a:latin typeface="+mn-lt"/>
              </a:rPr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61EFC-A491-60B2-B03A-A8D4C943A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7027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21"/>
          <p:cNvSpPr txBox="1">
            <a:spLocks/>
          </p:cNvSpPr>
          <p:nvPr/>
        </p:nvSpPr>
        <p:spPr>
          <a:xfrm>
            <a:off x="3788780" y="532361"/>
            <a:ext cx="4822784" cy="4756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accent1"/>
              </a:buClr>
              <a:buSzPts val="2000"/>
            </a:pPr>
            <a:r>
              <a:rPr lang="en-US" sz="2800" b="1" cap="all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Create a Function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60788" y="1008012"/>
            <a:ext cx="10486530" cy="55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Create your </a:t>
            </a:r>
            <a:r>
              <a:rPr lang="en-US" sz="2400" b="1" i="1" dirty="0">
                <a:latin typeface="+mn-lt"/>
              </a:rPr>
              <a:t>own functions </a:t>
            </a:r>
            <a:r>
              <a:rPr lang="en-US" sz="2400" dirty="0">
                <a:latin typeface="+mn-lt"/>
              </a:rPr>
              <a:t>to perform certain actions.</a:t>
            </a:r>
          </a:p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To create (often referred to as declare) a function, specify the </a:t>
            </a:r>
            <a:r>
              <a:rPr lang="en-US" sz="2400" b="1" i="1" dirty="0">
                <a:latin typeface="+mn-lt"/>
              </a:rPr>
              <a:t>name</a:t>
            </a:r>
            <a:r>
              <a:rPr lang="en-US" sz="2400" dirty="0">
                <a:latin typeface="+mn-lt"/>
              </a:rPr>
              <a:t> of the function, followed by </a:t>
            </a:r>
            <a:r>
              <a:rPr lang="en-US" sz="2400" b="1" u="sng" dirty="0">
                <a:latin typeface="+mn-lt"/>
              </a:rPr>
              <a:t>parentheses ()</a:t>
            </a:r>
            <a:r>
              <a:rPr lang="en-US" sz="2400" dirty="0">
                <a:latin typeface="+mn-lt"/>
              </a:rPr>
              <a:t>: </a:t>
            </a:r>
          </a:p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+mn-lt"/>
            </a:endParaRPr>
          </a:p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+mn-lt"/>
            </a:endParaRPr>
          </a:p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+mn-lt"/>
            </a:endParaRPr>
          </a:p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+mn-lt"/>
            </a:endParaRPr>
          </a:p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1" dirty="0" err="1">
                <a:solidFill>
                  <a:srgbClr val="C00000"/>
                </a:solidFill>
                <a:latin typeface="+mn-lt"/>
              </a:rPr>
              <a:t>myFunction</a:t>
            </a:r>
            <a:r>
              <a:rPr lang="en-US" sz="2400" b="1" i="1" dirty="0">
                <a:solidFill>
                  <a:srgbClr val="C00000"/>
                </a:solidFill>
                <a:latin typeface="+mn-lt"/>
              </a:rPr>
              <a:t>() </a:t>
            </a:r>
            <a:r>
              <a:rPr lang="en-US" sz="2400" dirty="0">
                <a:solidFill>
                  <a:srgbClr val="080808"/>
                </a:solidFill>
                <a:latin typeface="+mn-lt"/>
              </a:rPr>
              <a:t>is the name of the function.</a:t>
            </a:r>
          </a:p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C00000"/>
                </a:solidFill>
                <a:latin typeface="+mn-lt"/>
              </a:rPr>
              <a:t>void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2400" dirty="0">
                <a:solidFill>
                  <a:srgbClr val="080808"/>
                </a:solidFill>
                <a:latin typeface="+mn-lt"/>
              </a:rPr>
              <a:t>means that the function does not have a </a:t>
            </a:r>
            <a:r>
              <a:rPr lang="en-US" sz="2400" b="1" i="1" dirty="0">
                <a:solidFill>
                  <a:srgbClr val="080808"/>
                </a:solidFill>
                <a:latin typeface="+mn-lt"/>
              </a:rPr>
              <a:t>return value</a:t>
            </a:r>
            <a:r>
              <a:rPr lang="en-US" sz="2400" dirty="0">
                <a:solidFill>
                  <a:srgbClr val="080808"/>
                </a:solidFill>
                <a:latin typeface="+mn-lt"/>
              </a:rPr>
              <a:t>. </a:t>
            </a:r>
          </a:p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C00000"/>
                </a:solidFill>
                <a:latin typeface="+mn-lt"/>
              </a:rPr>
              <a:t>return type</a:t>
            </a:r>
            <a:r>
              <a:rPr lang="en-US" sz="24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2400" dirty="0">
                <a:solidFill>
                  <a:srgbClr val="080808"/>
                </a:solidFill>
                <a:latin typeface="+mn-lt"/>
              </a:rPr>
              <a:t>must be added before function name. ( </a:t>
            </a:r>
            <a:r>
              <a:rPr lang="en-US" sz="2400" b="1" i="1" dirty="0">
                <a:solidFill>
                  <a:srgbClr val="C00000"/>
                </a:solidFill>
                <a:latin typeface="+mn-lt"/>
              </a:rPr>
              <a:t>void, int , double </a:t>
            </a:r>
            <a:r>
              <a:rPr lang="en-US" sz="2400" dirty="0">
                <a:solidFill>
                  <a:srgbClr val="080808"/>
                </a:solidFill>
                <a:latin typeface="+mn-lt"/>
              </a:rPr>
              <a:t>, ………)</a:t>
            </a:r>
          </a:p>
        </p:txBody>
      </p:sp>
      <p:sp>
        <p:nvSpPr>
          <p:cNvPr id="5" name="Rectangle 4"/>
          <p:cNvSpPr/>
          <p:nvPr/>
        </p:nvSpPr>
        <p:spPr>
          <a:xfrm>
            <a:off x="4433104" y="2806746"/>
            <a:ext cx="4375230" cy="16892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void</a:t>
            </a:r>
            <a:r>
              <a:rPr lang="en-US" sz="2400" b="1" dirty="0"/>
              <a:t> </a:t>
            </a:r>
            <a:r>
              <a:rPr lang="en-US" sz="2400" b="1" dirty="0" err="1"/>
              <a:t>myFunction</a:t>
            </a:r>
            <a:r>
              <a:rPr lang="en-US" sz="2400" b="1" dirty="0"/>
              <a:t>() {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  </a:t>
            </a:r>
            <a:r>
              <a:rPr lang="en-US" sz="2400" b="1" dirty="0">
                <a:solidFill>
                  <a:srgbClr val="00B050"/>
                </a:solidFill>
              </a:rPr>
              <a:t>// code to be executed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}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62E33-E48D-9279-1379-96A3BEE8D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9814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21"/>
          <p:cNvSpPr txBox="1">
            <a:spLocks/>
          </p:cNvSpPr>
          <p:nvPr/>
        </p:nvSpPr>
        <p:spPr>
          <a:xfrm>
            <a:off x="1346106" y="87702"/>
            <a:ext cx="8856628" cy="4756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accent1"/>
              </a:buClr>
              <a:buSzPts val="2000"/>
            </a:pPr>
            <a:r>
              <a:rPr lang="en-US" sz="2800" b="1" cap="all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Function Declaration and Definition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30674" y="841983"/>
            <a:ext cx="10979552" cy="168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n-US" sz="2400" dirty="0">
                <a:latin typeface="+mn-lt"/>
              </a:rPr>
              <a:t>A C++ function consist of </a:t>
            </a:r>
            <a:r>
              <a:rPr lang="en-US" sz="2400" b="1" i="1" dirty="0">
                <a:latin typeface="+mn-lt"/>
              </a:rPr>
              <a:t>two parts</a:t>
            </a:r>
            <a:r>
              <a:rPr lang="en-US" sz="2400" dirty="0">
                <a:latin typeface="+mn-lt"/>
              </a:rPr>
              <a:t>:</a:t>
            </a:r>
          </a:p>
          <a:p>
            <a:pPr marL="342900" indent="-342900" algn="just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  <a:latin typeface="+mn-lt"/>
              </a:rPr>
              <a:t>Declaration</a:t>
            </a:r>
            <a:r>
              <a:rPr lang="en-US" sz="2400" b="1" dirty="0">
                <a:latin typeface="+mn-lt"/>
              </a:rPr>
              <a:t>: </a:t>
            </a:r>
            <a:r>
              <a:rPr lang="en-US" sz="2400" dirty="0">
                <a:latin typeface="+mn-lt"/>
              </a:rPr>
              <a:t>the </a:t>
            </a:r>
            <a:r>
              <a:rPr lang="en-US" sz="2400" b="1" i="1" dirty="0">
                <a:latin typeface="+mn-lt"/>
              </a:rPr>
              <a:t>return </a:t>
            </a:r>
            <a:r>
              <a:rPr lang="en-US" sz="2400" b="1" i="1" dirty="0">
                <a:solidFill>
                  <a:srgbClr val="FF0000"/>
                </a:solidFill>
                <a:latin typeface="+mn-lt"/>
              </a:rPr>
              <a:t>type</a:t>
            </a:r>
            <a:r>
              <a:rPr lang="en-US" sz="2400" dirty="0">
                <a:latin typeface="+mn-lt"/>
              </a:rPr>
              <a:t>, the </a:t>
            </a:r>
            <a:r>
              <a:rPr lang="en-US" sz="2400" b="1" i="1" dirty="0">
                <a:solidFill>
                  <a:srgbClr val="FF0000"/>
                </a:solidFill>
                <a:latin typeface="+mn-lt"/>
              </a:rPr>
              <a:t>name</a:t>
            </a:r>
            <a:r>
              <a:rPr lang="en-US" sz="2400" dirty="0">
                <a:latin typeface="+mn-lt"/>
              </a:rPr>
              <a:t> of the function, and </a:t>
            </a:r>
            <a:r>
              <a:rPr lang="en-US" sz="2400" b="1" i="1" dirty="0">
                <a:latin typeface="+mn-lt"/>
              </a:rPr>
              <a:t>parameters </a:t>
            </a:r>
            <a:r>
              <a:rPr lang="en-US" sz="2400" dirty="0">
                <a:latin typeface="+mn-lt"/>
              </a:rPr>
              <a:t>(if any)</a:t>
            </a:r>
          </a:p>
          <a:p>
            <a:pPr marL="342900" indent="-342900" algn="just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  <a:latin typeface="+mn-lt"/>
              </a:rPr>
              <a:t>Definition</a:t>
            </a:r>
            <a:r>
              <a:rPr lang="en-US" sz="2400" b="1" dirty="0">
                <a:latin typeface="+mn-lt"/>
              </a:rPr>
              <a:t>: </a:t>
            </a:r>
            <a:r>
              <a:rPr lang="en-US" sz="2400" dirty="0">
                <a:latin typeface="+mn-lt"/>
              </a:rPr>
              <a:t>the </a:t>
            </a:r>
            <a:r>
              <a:rPr lang="en-US" sz="2400" b="1" i="1" dirty="0">
                <a:latin typeface="+mn-lt"/>
              </a:rPr>
              <a:t>body of the function </a:t>
            </a:r>
            <a:r>
              <a:rPr lang="en-US" sz="2400" dirty="0">
                <a:latin typeface="+mn-lt"/>
              </a:rPr>
              <a:t>(</a:t>
            </a:r>
            <a:r>
              <a:rPr lang="en-US" sz="2400" b="1" i="1" dirty="0">
                <a:solidFill>
                  <a:srgbClr val="FF0000"/>
                </a:solidFill>
                <a:latin typeface="+mn-lt"/>
              </a:rPr>
              <a:t>code</a:t>
            </a:r>
            <a:r>
              <a:rPr lang="en-US" sz="2400" dirty="0">
                <a:latin typeface="+mn-lt"/>
              </a:rPr>
              <a:t> to be executed)</a:t>
            </a:r>
          </a:p>
        </p:txBody>
      </p:sp>
      <p:sp>
        <p:nvSpPr>
          <p:cNvPr id="2" name="Rectangle 1"/>
          <p:cNvSpPr/>
          <p:nvPr/>
        </p:nvSpPr>
        <p:spPr>
          <a:xfrm>
            <a:off x="1505390" y="3064811"/>
            <a:ext cx="9363237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CD"/>
                </a:solidFill>
              </a:rPr>
              <a:t>void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b="1" dirty="0" err="1">
                <a:solidFill>
                  <a:srgbClr val="000000"/>
                </a:solidFill>
              </a:rPr>
              <a:t>myFunction</a:t>
            </a:r>
            <a:r>
              <a:rPr lang="en-US" sz="2400" b="1" dirty="0">
                <a:solidFill>
                  <a:srgbClr val="000000"/>
                </a:solidFill>
              </a:rPr>
              <a:t>(</a:t>
            </a:r>
            <a:r>
              <a:rPr lang="en-US" sz="2400" b="1" i="1" dirty="0">
                <a:solidFill>
                  <a:srgbClr val="0070C0"/>
                </a:solidFill>
              </a:rPr>
              <a:t>parameter1, parameter2,……</a:t>
            </a:r>
            <a:r>
              <a:rPr lang="en-US" sz="2400" b="1" dirty="0">
                <a:solidFill>
                  <a:srgbClr val="000000"/>
                </a:solidFill>
              </a:rPr>
              <a:t>)</a:t>
            </a:r>
            <a:r>
              <a:rPr lang="en-US" sz="2400" dirty="0">
                <a:solidFill>
                  <a:srgbClr val="000000"/>
                </a:solidFill>
              </a:rPr>
              <a:t> { </a:t>
            </a:r>
            <a:r>
              <a:rPr lang="en-US" sz="2400" dirty="0">
                <a:solidFill>
                  <a:srgbClr val="008000"/>
                </a:solidFill>
              </a:rPr>
              <a:t>// </a:t>
            </a:r>
            <a:r>
              <a:rPr lang="en-US" sz="2400" b="1" dirty="0">
                <a:solidFill>
                  <a:srgbClr val="008000"/>
                </a:solidFill>
              </a:rPr>
              <a:t>declaration</a:t>
            </a:r>
          </a:p>
          <a:p>
            <a:br>
              <a:rPr lang="en-US" sz="2400" dirty="0">
                <a:solidFill>
                  <a:srgbClr val="008000"/>
                </a:solidFill>
              </a:rPr>
            </a:br>
            <a:r>
              <a:rPr lang="en-US" sz="2400" dirty="0">
                <a:solidFill>
                  <a:srgbClr val="000000"/>
                </a:solidFill>
              </a:rPr>
              <a:t>  </a:t>
            </a:r>
            <a:r>
              <a:rPr lang="en-US" sz="2400" dirty="0">
                <a:solidFill>
                  <a:srgbClr val="008000"/>
                </a:solidFill>
              </a:rPr>
              <a:t>// the body of the function (</a:t>
            </a:r>
            <a:r>
              <a:rPr lang="en-US" sz="2400" b="1" dirty="0">
                <a:solidFill>
                  <a:srgbClr val="008000"/>
                </a:solidFill>
              </a:rPr>
              <a:t>definition</a:t>
            </a:r>
            <a:r>
              <a:rPr lang="en-US" sz="2400" dirty="0">
                <a:solidFill>
                  <a:srgbClr val="008000"/>
                </a:solidFill>
              </a:rPr>
              <a:t>)</a:t>
            </a:r>
          </a:p>
          <a:p>
            <a:br>
              <a:rPr lang="en-US" sz="2400" dirty="0">
                <a:solidFill>
                  <a:srgbClr val="008000"/>
                </a:solidFill>
              </a:rPr>
            </a:br>
            <a:r>
              <a:rPr lang="en-US" sz="2400" dirty="0">
                <a:solidFill>
                  <a:srgbClr val="000000"/>
                </a:solidFill>
              </a:rPr>
              <a:t>}</a:t>
            </a:r>
            <a:endParaRPr lang="en-US" sz="2400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151DC54D-B88C-36C5-6E09-F0D7EDB28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108" y="5262646"/>
            <a:ext cx="10979551" cy="1135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+mn-lt"/>
              </a:rPr>
              <a:t>Note: </a:t>
            </a:r>
            <a:r>
              <a:rPr lang="en-US" sz="2400" dirty="0">
                <a:latin typeface="+mn-lt"/>
              </a:rPr>
              <a:t>If a user-defined function, such as </a:t>
            </a:r>
            <a:r>
              <a:rPr lang="en-US" sz="2400" i="1" dirty="0" err="1">
                <a:solidFill>
                  <a:srgbClr val="FF0000"/>
                </a:solidFill>
                <a:latin typeface="+mn-lt"/>
              </a:rPr>
              <a:t>myFunction</a:t>
            </a:r>
            <a:r>
              <a:rPr lang="en-US" sz="2400" i="1" dirty="0">
                <a:solidFill>
                  <a:srgbClr val="FF0000"/>
                </a:solidFill>
                <a:latin typeface="+mn-lt"/>
              </a:rPr>
              <a:t>() </a:t>
            </a:r>
            <a:r>
              <a:rPr lang="en-US" sz="2400" dirty="0">
                <a:latin typeface="+mn-lt"/>
              </a:rPr>
              <a:t>is declared </a:t>
            </a:r>
            <a:r>
              <a:rPr lang="en-US" sz="2400" b="1" dirty="0">
                <a:latin typeface="+mn-lt"/>
              </a:rPr>
              <a:t>after</a:t>
            </a:r>
            <a:r>
              <a:rPr lang="en-US" sz="2400" dirty="0">
                <a:latin typeface="+mn-lt"/>
              </a:rPr>
              <a:t> the </a:t>
            </a:r>
            <a:r>
              <a:rPr lang="en-US" sz="2400" b="1" i="1" dirty="0">
                <a:solidFill>
                  <a:srgbClr val="FF0000"/>
                </a:solidFill>
                <a:latin typeface="+mn-lt"/>
              </a:rPr>
              <a:t>main() </a:t>
            </a:r>
            <a:r>
              <a:rPr lang="en-US" sz="2400" dirty="0">
                <a:latin typeface="+mn-lt"/>
              </a:rPr>
              <a:t>function, an </a:t>
            </a:r>
            <a:r>
              <a:rPr lang="en-US" sz="2400" b="1" i="1" dirty="0">
                <a:solidFill>
                  <a:srgbClr val="FF0000"/>
                </a:solidFill>
                <a:latin typeface="+mn-lt"/>
              </a:rPr>
              <a:t>error</a:t>
            </a:r>
            <a:r>
              <a:rPr lang="en-US" sz="2400" dirty="0">
                <a:latin typeface="+mn-lt"/>
              </a:rPr>
              <a:t> will occur: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A1069-0E63-881D-0129-E04994DAD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7255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21"/>
          <p:cNvSpPr txBox="1">
            <a:spLocks/>
          </p:cNvSpPr>
          <p:nvPr/>
        </p:nvSpPr>
        <p:spPr>
          <a:xfrm>
            <a:off x="3024850" y="614423"/>
            <a:ext cx="6514684" cy="4756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accent1"/>
              </a:buClr>
              <a:buSzPts val="2000"/>
            </a:pPr>
            <a:r>
              <a:rPr lang="en-US" sz="2800" b="1" cap="all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Call a Function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82905" y="1447800"/>
            <a:ext cx="11019099" cy="2797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Declared functions are not executed immediately. They are "saved for later use", and will be executed later, when they are </a:t>
            </a:r>
            <a:r>
              <a:rPr lang="en-US" sz="2400" b="1" i="1" dirty="0">
                <a:solidFill>
                  <a:srgbClr val="FF0000"/>
                </a:solidFill>
                <a:latin typeface="+mn-lt"/>
              </a:rPr>
              <a:t>called</a:t>
            </a:r>
            <a:r>
              <a:rPr lang="en-US" sz="2400" b="1" i="1" dirty="0">
                <a:latin typeface="+mn-lt"/>
              </a:rPr>
              <a:t>.</a:t>
            </a:r>
          </a:p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+mn-lt"/>
            </a:endParaRPr>
          </a:p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To </a:t>
            </a:r>
            <a:r>
              <a:rPr lang="en-US" sz="2400" b="1" dirty="0">
                <a:latin typeface="+mn-lt"/>
              </a:rPr>
              <a:t>call a function</a:t>
            </a:r>
            <a:r>
              <a:rPr lang="en-US" sz="2400" dirty="0">
                <a:latin typeface="+mn-lt"/>
              </a:rPr>
              <a:t>, write the </a:t>
            </a:r>
            <a:r>
              <a:rPr lang="en-US" sz="2400" b="1" i="1" dirty="0">
                <a:latin typeface="+mn-lt"/>
              </a:rPr>
              <a:t>function's name followed by two parentheses </a:t>
            </a:r>
            <a:r>
              <a:rPr lang="en-US" sz="2400" b="1" i="1" dirty="0">
                <a:solidFill>
                  <a:srgbClr val="FF0000"/>
                </a:solidFill>
                <a:latin typeface="+mn-lt"/>
              </a:rPr>
              <a:t>()</a:t>
            </a:r>
            <a:r>
              <a:rPr lang="en-US" sz="2400" b="1" i="1" dirty="0">
                <a:latin typeface="+mn-lt"/>
              </a:rPr>
              <a:t> and a semicolon </a:t>
            </a:r>
            <a:r>
              <a:rPr lang="en-US" sz="2400" b="1" i="1" dirty="0">
                <a:solidFill>
                  <a:srgbClr val="FF0000"/>
                </a:solidFill>
                <a:latin typeface="+mn-lt"/>
              </a:rPr>
              <a:t>; in the main() function</a:t>
            </a:r>
          </a:p>
        </p:txBody>
      </p:sp>
    </p:spTree>
    <p:extLst>
      <p:ext uri="{BB962C8B-B14F-4D97-AF65-F5344CB8AC3E}">
        <p14:creationId xmlns:p14="http://schemas.microsoft.com/office/powerpoint/2010/main" val="20612147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21"/>
          <p:cNvSpPr txBox="1">
            <a:spLocks/>
          </p:cNvSpPr>
          <p:nvPr/>
        </p:nvSpPr>
        <p:spPr>
          <a:xfrm>
            <a:off x="3673033" y="24510"/>
            <a:ext cx="5042704" cy="4756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accent1"/>
              </a:buClr>
              <a:buSzPts val="2000"/>
            </a:pPr>
            <a:r>
              <a:rPr lang="en-US" sz="2800" b="1" cap="all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Call a Function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586450" y="695253"/>
            <a:ext cx="11215869" cy="1135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In the following example, </a:t>
            </a:r>
            <a:r>
              <a:rPr lang="en-US" sz="2400" b="1" i="1" dirty="0" err="1">
                <a:solidFill>
                  <a:srgbClr val="C00000"/>
                </a:solidFill>
                <a:latin typeface="+mn-lt"/>
              </a:rPr>
              <a:t>myFunction</a:t>
            </a:r>
            <a:r>
              <a:rPr lang="en-US" sz="2400" b="1" i="1" dirty="0">
                <a:solidFill>
                  <a:srgbClr val="C00000"/>
                </a:solidFill>
                <a:latin typeface="+mn-lt"/>
              </a:rPr>
              <a:t>() </a:t>
            </a:r>
            <a:r>
              <a:rPr lang="en-US" sz="2400" dirty="0">
                <a:latin typeface="+mn-lt"/>
              </a:rPr>
              <a:t>is used to print a text , when it is called.</a:t>
            </a:r>
          </a:p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80808"/>
                </a:solidFill>
                <a:latin typeface="+mn-lt"/>
              </a:rPr>
              <a:t>Example: </a:t>
            </a:r>
            <a:r>
              <a:rPr lang="en-US" sz="2400" dirty="0">
                <a:solidFill>
                  <a:srgbClr val="080808"/>
                </a:solidFill>
                <a:latin typeface="+mn-lt"/>
              </a:rPr>
              <a:t>Inside </a:t>
            </a:r>
            <a:r>
              <a:rPr lang="en-US" sz="2400" b="1" i="1" dirty="0">
                <a:solidFill>
                  <a:srgbClr val="FF0000"/>
                </a:solidFill>
                <a:latin typeface="+mn-lt"/>
              </a:rPr>
              <a:t>main</a:t>
            </a:r>
            <a:r>
              <a:rPr lang="en-US" sz="2400" dirty="0">
                <a:solidFill>
                  <a:srgbClr val="080808"/>
                </a:solidFill>
                <a:latin typeface="+mn-lt"/>
              </a:rPr>
              <a:t>, call </a:t>
            </a:r>
            <a:r>
              <a:rPr lang="en-US" sz="2400" b="1" i="1" dirty="0" err="1">
                <a:solidFill>
                  <a:srgbClr val="FF0000"/>
                </a:solidFill>
                <a:latin typeface="+mn-lt"/>
              </a:rPr>
              <a:t>myFunction</a:t>
            </a:r>
            <a:r>
              <a:rPr lang="en-US" sz="2400" b="1" i="1" dirty="0">
                <a:solidFill>
                  <a:srgbClr val="FF0000"/>
                </a:solidFill>
                <a:latin typeface="+mn-lt"/>
              </a:rPr>
              <a:t>()</a:t>
            </a:r>
            <a:r>
              <a:rPr lang="en-US" sz="2400" b="1" i="1" dirty="0">
                <a:solidFill>
                  <a:srgbClr val="080808"/>
                </a:solidFill>
                <a:latin typeface="+mn-lt"/>
              </a:rPr>
              <a:t>:</a:t>
            </a:r>
          </a:p>
        </p:txBody>
      </p:sp>
      <p:sp>
        <p:nvSpPr>
          <p:cNvPr id="2" name="Rectangle 1"/>
          <p:cNvSpPr/>
          <p:nvPr/>
        </p:nvSpPr>
        <p:spPr>
          <a:xfrm>
            <a:off x="4109975" y="2025592"/>
            <a:ext cx="4408991" cy="40934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</a:rPr>
              <a:t>// Create a function</a:t>
            </a:r>
            <a:br>
              <a:rPr lang="en-US" sz="2000" b="1" dirty="0">
                <a:solidFill>
                  <a:srgbClr val="008000"/>
                </a:solidFill>
              </a:rPr>
            </a:br>
            <a:r>
              <a:rPr lang="en-US" sz="2000" b="1" dirty="0">
                <a:solidFill>
                  <a:srgbClr val="0000CD"/>
                </a:solidFill>
              </a:rPr>
              <a:t>void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 err="1">
                <a:solidFill>
                  <a:srgbClr val="C00000"/>
                </a:solidFill>
              </a:rPr>
              <a:t>myFunction</a:t>
            </a:r>
            <a:r>
              <a:rPr lang="en-US" sz="2000" b="1" dirty="0">
                <a:solidFill>
                  <a:srgbClr val="C00000"/>
                </a:solidFill>
              </a:rPr>
              <a:t>() </a:t>
            </a:r>
            <a:r>
              <a:rPr lang="en-US" sz="2000" b="1" dirty="0">
                <a:solidFill>
                  <a:srgbClr val="000000"/>
                </a:solidFill>
              </a:rPr>
              <a:t>{</a:t>
            </a:r>
            <a:br>
              <a:rPr lang="en-US" sz="2000" b="1" dirty="0">
                <a:solidFill>
                  <a:srgbClr val="000000"/>
                </a:solidFill>
              </a:rPr>
            </a:br>
            <a:r>
              <a:rPr lang="en-US" sz="2000" b="1" dirty="0">
                <a:solidFill>
                  <a:srgbClr val="000000"/>
                </a:solidFill>
              </a:rPr>
              <a:t>  cout &lt;&lt; </a:t>
            </a:r>
            <a:r>
              <a:rPr lang="en-US" sz="2000" b="1" dirty="0">
                <a:solidFill>
                  <a:srgbClr val="A52A2A"/>
                </a:solidFill>
              </a:rPr>
              <a:t>"I just got executed!"</a:t>
            </a:r>
            <a:r>
              <a:rPr lang="en-US" sz="2000" b="1" dirty="0">
                <a:solidFill>
                  <a:srgbClr val="000000"/>
                </a:solidFill>
              </a:rPr>
              <a:t>;</a:t>
            </a:r>
            <a:br>
              <a:rPr lang="en-US" sz="2000" b="1" dirty="0">
                <a:solidFill>
                  <a:srgbClr val="000000"/>
                </a:solidFill>
              </a:rPr>
            </a:br>
            <a:r>
              <a:rPr lang="en-US" sz="2000" b="1" dirty="0">
                <a:solidFill>
                  <a:srgbClr val="000000"/>
                </a:solidFill>
              </a:rPr>
              <a:t>}</a:t>
            </a:r>
            <a:br>
              <a:rPr lang="en-US" sz="2000" b="1" dirty="0">
                <a:solidFill>
                  <a:srgbClr val="000000"/>
                </a:solidFill>
              </a:rPr>
            </a:br>
            <a:br>
              <a:rPr lang="en-US" sz="2000" b="1" dirty="0">
                <a:solidFill>
                  <a:srgbClr val="000000"/>
                </a:solidFill>
              </a:rPr>
            </a:br>
            <a:r>
              <a:rPr lang="en-US" sz="2000" b="1" dirty="0">
                <a:solidFill>
                  <a:srgbClr val="0000CD"/>
                </a:solidFill>
              </a:rPr>
              <a:t>int</a:t>
            </a:r>
            <a:r>
              <a:rPr lang="en-US" sz="2000" b="1" dirty="0">
                <a:solidFill>
                  <a:srgbClr val="000000"/>
                </a:solidFill>
              </a:rPr>
              <a:t> main() {</a:t>
            </a:r>
            <a:br>
              <a:rPr lang="en-US" sz="2000" b="1" dirty="0">
                <a:solidFill>
                  <a:srgbClr val="000000"/>
                </a:solidFill>
              </a:rPr>
            </a:br>
            <a:r>
              <a:rPr lang="en-US" sz="2000" b="1" dirty="0">
                <a:solidFill>
                  <a:srgbClr val="000000"/>
                </a:solidFill>
              </a:rPr>
              <a:t>  </a:t>
            </a:r>
            <a:r>
              <a:rPr lang="en-US" sz="2000" b="1" dirty="0" err="1">
                <a:solidFill>
                  <a:srgbClr val="C00000"/>
                </a:solidFill>
              </a:rPr>
              <a:t>myFunction</a:t>
            </a:r>
            <a:r>
              <a:rPr lang="en-US" sz="2000" b="1" dirty="0">
                <a:solidFill>
                  <a:srgbClr val="C00000"/>
                </a:solidFill>
              </a:rPr>
              <a:t>(); </a:t>
            </a:r>
            <a:r>
              <a:rPr lang="en-US" sz="2000" b="1" dirty="0">
                <a:solidFill>
                  <a:srgbClr val="008000"/>
                </a:solidFill>
              </a:rPr>
              <a:t>// call the function</a:t>
            </a:r>
            <a:br>
              <a:rPr lang="en-US" sz="2000" b="1" dirty="0">
                <a:solidFill>
                  <a:srgbClr val="008000"/>
                </a:solidFill>
              </a:rPr>
            </a:br>
            <a:r>
              <a:rPr lang="en-US" sz="2000" b="1" dirty="0">
                <a:solidFill>
                  <a:srgbClr val="000000"/>
                </a:solidFill>
              </a:rPr>
              <a:t>  </a:t>
            </a:r>
            <a:r>
              <a:rPr lang="en-US" sz="2000" b="1" dirty="0">
                <a:solidFill>
                  <a:srgbClr val="0000CD"/>
                </a:solidFill>
              </a:rPr>
              <a:t>return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0</a:t>
            </a:r>
            <a:r>
              <a:rPr lang="en-US" sz="2000" b="1" dirty="0">
                <a:solidFill>
                  <a:srgbClr val="000000"/>
                </a:solidFill>
              </a:rPr>
              <a:t>;</a:t>
            </a:r>
            <a:br>
              <a:rPr lang="en-US" sz="2000" b="1" dirty="0">
                <a:solidFill>
                  <a:srgbClr val="000000"/>
                </a:solidFill>
              </a:rPr>
            </a:br>
            <a:r>
              <a:rPr lang="en-US" sz="2000" b="1" dirty="0">
                <a:solidFill>
                  <a:srgbClr val="000000"/>
                </a:solidFill>
              </a:rPr>
              <a:t>}</a:t>
            </a:r>
            <a:br>
              <a:rPr lang="en-US" sz="2000" b="1" dirty="0">
                <a:solidFill>
                  <a:srgbClr val="000000"/>
                </a:solidFill>
              </a:rPr>
            </a:br>
            <a:br>
              <a:rPr lang="en-US" sz="2000" b="1" dirty="0">
                <a:solidFill>
                  <a:srgbClr val="000000"/>
                </a:solidFill>
              </a:rPr>
            </a:br>
            <a:r>
              <a:rPr lang="en-US" sz="2000" b="1" dirty="0">
                <a:solidFill>
                  <a:srgbClr val="008000"/>
                </a:solidFill>
              </a:rPr>
              <a:t>// Outputs </a:t>
            </a:r>
          </a:p>
          <a:p>
            <a:endParaRPr lang="en-US" sz="2000" b="1" dirty="0">
              <a:solidFill>
                <a:srgbClr val="008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I just got executed!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ADE46C-8F2B-B5CB-B9DE-9462ABEC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6453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21"/>
          <p:cNvSpPr txBox="1">
            <a:spLocks/>
          </p:cNvSpPr>
          <p:nvPr/>
        </p:nvSpPr>
        <p:spPr>
          <a:xfrm>
            <a:off x="3962400" y="533401"/>
            <a:ext cx="6514684" cy="4756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accent1"/>
              </a:buClr>
              <a:buSzPts val="2000"/>
            </a:pPr>
            <a:r>
              <a:rPr lang="en-US" sz="2800" b="1" cap="all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C++ The Return Keyword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705058" y="1009052"/>
            <a:ext cx="11020096" cy="168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The </a:t>
            </a:r>
            <a:r>
              <a:rPr lang="en-US" sz="2400" b="1" i="1" dirty="0">
                <a:solidFill>
                  <a:srgbClr val="FF0000"/>
                </a:solidFill>
                <a:latin typeface="+mn-lt"/>
              </a:rPr>
              <a:t>void</a:t>
            </a:r>
            <a:r>
              <a:rPr lang="en-US" sz="2400" dirty="0">
                <a:latin typeface="+mn-lt"/>
              </a:rPr>
              <a:t> keyword, indicates that the function should </a:t>
            </a:r>
            <a:r>
              <a:rPr lang="en-US" sz="2400" b="1" i="1" dirty="0">
                <a:latin typeface="+mn-lt"/>
              </a:rPr>
              <a:t>not return a value</a:t>
            </a:r>
            <a:r>
              <a:rPr lang="en-US" sz="2400" dirty="0">
                <a:latin typeface="+mn-lt"/>
              </a:rPr>
              <a:t>. </a:t>
            </a:r>
          </a:p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If you want the function to </a:t>
            </a:r>
            <a:r>
              <a:rPr lang="en-US" sz="2400" b="1" i="1" dirty="0">
                <a:latin typeface="+mn-lt"/>
              </a:rPr>
              <a:t>return a value</a:t>
            </a:r>
            <a:r>
              <a:rPr lang="en-US" sz="2400" dirty="0">
                <a:latin typeface="+mn-lt"/>
              </a:rPr>
              <a:t>, you can use a </a:t>
            </a:r>
            <a:r>
              <a:rPr lang="en-US" sz="2400" b="1" i="1" dirty="0">
                <a:latin typeface="+mn-lt"/>
              </a:rPr>
              <a:t>data type </a:t>
            </a:r>
            <a:r>
              <a:rPr lang="en-US" sz="2400" dirty="0">
                <a:latin typeface="+mn-lt"/>
              </a:rPr>
              <a:t>(such as </a:t>
            </a:r>
            <a:r>
              <a:rPr lang="en-US" sz="2400" b="1" i="1" dirty="0">
                <a:solidFill>
                  <a:srgbClr val="FF0000"/>
                </a:solidFill>
                <a:latin typeface="+mn-lt"/>
              </a:rPr>
              <a:t>int</a:t>
            </a:r>
            <a:r>
              <a:rPr lang="en-US" sz="2400" b="1" i="1" dirty="0">
                <a:latin typeface="+mn-lt"/>
              </a:rPr>
              <a:t>, </a:t>
            </a:r>
            <a:r>
              <a:rPr lang="en-US" sz="2400" b="1" i="1" dirty="0">
                <a:solidFill>
                  <a:srgbClr val="FF0000"/>
                </a:solidFill>
                <a:latin typeface="+mn-lt"/>
              </a:rPr>
              <a:t>string</a:t>
            </a:r>
            <a:r>
              <a:rPr lang="en-US" sz="2400" b="1" i="1" dirty="0">
                <a:latin typeface="+mn-lt"/>
              </a:rPr>
              <a:t>, </a:t>
            </a:r>
            <a:r>
              <a:rPr lang="en-US" sz="2400" dirty="0">
                <a:latin typeface="+mn-lt"/>
              </a:rPr>
              <a:t>etc.) instead of </a:t>
            </a:r>
            <a:r>
              <a:rPr lang="en-US" sz="2400" b="1" i="1" dirty="0">
                <a:solidFill>
                  <a:srgbClr val="FF0000"/>
                </a:solidFill>
                <a:latin typeface="+mn-lt"/>
              </a:rPr>
              <a:t>void</a:t>
            </a:r>
            <a:r>
              <a:rPr lang="en-US" sz="2400" dirty="0">
                <a:latin typeface="+mn-lt"/>
              </a:rPr>
              <a:t>, and use the </a:t>
            </a:r>
            <a:r>
              <a:rPr lang="en-US" sz="2400" b="1" i="1" dirty="0">
                <a:latin typeface="+mn-lt"/>
              </a:rPr>
              <a:t>return keyword </a:t>
            </a:r>
            <a:r>
              <a:rPr lang="en-US" sz="2400" dirty="0">
                <a:latin typeface="+mn-lt"/>
              </a:rPr>
              <a:t>inside the function:</a:t>
            </a:r>
          </a:p>
        </p:txBody>
      </p:sp>
      <p:sp>
        <p:nvSpPr>
          <p:cNvPr id="3" name="Rectangle 2"/>
          <p:cNvSpPr/>
          <p:nvPr/>
        </p:nvSpPr>
        <p:spPr>
          <a:xfrm>
            <a:off x="3664352" y="3408744"/>
            <a:ext cx="4572000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2000" b="1" dirty="0">
                <a:solidFill>
                  <a:srgbClr val="0000CD"/>
                </a:solidFill>
              </a:rPr>
              <a:t>int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 err="1">
                <a:solidFill>
                  <a:srgbClr val="000000"/>
                </a:solidFill>
              </a:rPr>
              <a:t>myFunction</a:t>
            </a:r>
            <a:r>
              <a:rPr lang="en-US" sz="2000" b="1" dirty="0">
                <a:solidFill>
                  <a:srgbClr val="000000"/>
                </a:solidFill>
              </a:rPr>
              <a:t>(</a:t>
            </a:r>
            <a:r>
              <a:rPr lang="en-US" sz="2000" b="1" dirty="0">
                <a:solidFill>
                  <a:srgbClr val="0000CD"/>
                </a:solidFill>
              </a:rPr>
              <a:t>int</a:t>
            </a:r>
            <a:r>
              <a:rPr lang="en-US" sz="2000" b="1" dirty="0">
                <a:solidFill>
                  <a:srgbClr val="000000"/>
                </a:solidFill>
              </a:rPr>
              <a:t> x) {</a:t>
            </a:r>
            <a:br>
              <a:rPr lang="en-US" sz="2000" b="1" dirty="0">
                <a:solidFill>
                  <a:srgbClr val="000000"/>
                </a:solidFill>
              </a:rPr>
            </a:br>
            <a:r>
              <a:rPr lang="en-US" sz="2000" b="1" dirty="0">
                <a:solidFill>
                  <a:srgbClr val="000000"/>
                </a:solidFill>
              </a:rPr>
              <a:t>  </a:t>
            </a:r>
            <a:r>
              <a:rPr lang="en-US" sz="2000" b="1" dirty="0">
                <a:solidFill>
                  <a:srgbClr val="0000CD"/>
                </a:solidFill>
              </a:rPr>
              <a:t>return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5</a:t>
            </a:r>
            <a:r>
              <a:rPr lang="en-US" sz="2000" b="1" dirty="0">
                <a:solidFill>
                  <a:srgbClr val="000000"/>
                </a:solidFill>
              </a:rPr>
              <a:t> + x;</a:t>
            </a:r>
            <a:br>
              <a:rPr lang="en-US" sz="2000" b="1" dirty="0">
                <a:solidFill>
                  <a:srgbClr val="000000"/>
                </a:solidFill>
              </a:rPr>
            </a:br>
            <a:r>
              <a:rPr lang="en-US" sz="2000" b="1" dirty="0">
                <a:solidFill>
                  <a:srgbClr val="000000"/>
                </a:solidFill>
              </a:rPr>
              <a:t>}</a:t>
            </a:r>
            <a:br>
              <a:rPr lang="en-US" sz="2000" b="1" dirty="0">
                <a:solidFill>
                  <a:srgbClr val="000000"/>
                </a:solidFill>
              </a:rPr>
            </a:br>
            <a:br>
              <a:rPr lang="en-US" sz="2000" b="1" dirty="0">
                <a:solidFill>
                  <a:srgbClr val="000000"/>
                </a:solidFill>
              </a:rPr>
            </a:br>
            <a:r>
              <a:rPr lang="en-US" sz="2000" b="1" dirty="0">
                <a:solidFill>
                  <a:srgbClr val="0000CD"/>
                </a:solidFill>
              </a:rPr>
              <a:t>int</a:t>
            </a:r>
            <a:r>
              <a:rPr lang="en-US" sz="2000" b="1" dirty="0">
                <a:solidFill>
                  <a:srgbClr val="000000"/>
                </a:solidFill>
              </a:rPr>
              <a:t> main() {</a:t>
            </a:r>
            <a:br>
              <a:rPr lang="en-US" sz="2000" b="1" dirty="0">
                <a:solidFill>
                  <a:srgbClr val="000000"/>
                </a:solidFill>
              </a:rPr>
            </a:br>
            <a:r>
              <a:rPr lang="en-US" sz="2000" b="1" dirty="0">
                <a:solidFill>
                  <a:srgbClr val="000000"/>
                </a:solidFill>
              </a:rPr>
              <a:t>  cout &lt;&lt; </a:t>
            </a:r>
            <a:r>
              <a:rPr lang="en-US" sz="2000" b="1" dirty="0" err="1">
                <a:solidFill>
                  <a:srgbClr val="000000"/>
                </a:solidFill>
              </a:rPr>
              <a:t>myFunction</a:t>
            </a:r>
            <a:r>
              <a:rPr lang="en-US" sz="2000" b="1" dirty="0">
                <a:solidFill>
                  <a:srgbClr val="000000"/>
                </a:solidFill>
              </a:rPr>
              <a:t>(</a:t>
            </a:r>
            <a:r>
              <a:rPr lang="en-US" sz="2000" b="1" dirty="0">
                <a:solidFill>
                  <a:srgbClr val="FF0000"/>
                </a:solidFill>
              </a:rPr>
              <a:t>3</a:t>
            </a:r>
            <a:r>
              <a:rPr lang="en-US" sz="2000" b="1" dirty="0">
                <a:solidFill>
                  <a:srgbClr val="000000"/>
                </a:solidFill>
              </a:rPr>
              <a:t>);</a:t>
            </a:r>
            <a:br>
              <a:rPr lang="en-US" sz="2000" b="1" dirty="0">
                <a:solidFill>
                  <a:srgbClr val="000000"/>
                </a:solidFill>
              </a:rPr>
            </a:br>
            <a:r>
              <a:rPr lang="en-US" sz="2000" b="1" dirty="0">
                <a:solidFill>
                  <a:srgbClr val="000000"/>
                </a:solidFill>
              </a:rPr>
              <a:t>  </a:t>
            </a:r>
            <a:r>
              <a:rPr lang="en-US" sz="2000" b="1" dirty="0">
                <a:solidFill>
                  <a:srgbClr val="0000CD"/>
                </a:solidFill>
              </a:rPr>
              <a:t>return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0</a:t>
            </a:r>
            <a:r>
              <a:rPr lang="en-US" sz="2000" b="1" dirty="0">
                <a:solidFill>
                  <a:srgbClr val="000000"/>
                </a:solidFill>
              </a:rPr>
              <a:t>;</a:t>
            </a:r>
            <a:br>
              <a:rPr lang="en-US" sz="2000" b="1" dirty="0">
                <a:solidFill>
                  <a:srgbClr val="000000"/>
                </a:solidFill>
              </a:rPr>
            </a:br>
            <a:r>
              <a:rPr lang="en-US" sz="2000" b="1" dirty="0">
                <a:solidFill>
                  <a:srgbClr val="000000"/>
                </a:solidFill>
              </a:rPr>
              <a:t>}</a:t>
            </a:r>
            <a:br>
              <a:rPr lang="en-US" sz="2000" b="1" dirty="0">
                <a:solidFill>
                  <a:srgbClr val="000000"/>
                </a:solidFill>
              </a:rPr>
            </a:br>
            <a:r>
              <a:rPr lang="en-US" sz="2000" b="1" dirty="0">
                <a:solidFill>
                  <a:srgbClr val="008000"/>
                </a:solidFill>
              </a:rPr>
              <a:t>// Outputs  8 (5 + 3)</a:t>
            </a:r>
            <a:endParaRPr lang="en-US" sz="20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783C35-150F-5A1B-75FE-9B68CC635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1463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62006811-F729-48FD-A8CD-91918223CD8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64038" y="1178"/>
            <a:ext cx="7880350" cy="500062"/>
          </a:xfrm>
        </p:spPr>
        <p:txBody>
          <a:bodyPr>
            <a:noAutofit/>
          </a:bodyPr>
          <a:lstStyle/>
          <a:p>
            <a:r>
              <a:rPr lang="en-US" altLang="en-US" b="1" dirty="0">
                <a:solidFill>
                  <a:srgbClr val="C00000"/>
                </a:solidFill>
                <a:sym typeface="Arial"/>
              </a:rPr>
              <a:t>Opening Problem (Function Idea)</a:t>
            </a:r>
          </a:p>
        </p:txBody>
      </p:sp>
      <p:sp>
        <p:nvSpPr>
          <p:cNvPr id="4103" name="Text Box 6">
            <a:extLst>
              <a:ext uri="{FF2B5EF4-FFF2-40B4-BE49-F238E27FC236}">
                <a16:creationId xmlns:a16="http://schemas.microsoft.com/office/drawing/2014/main" id="{46C9FA33-6E14-4B98-8101-E01BAC3FE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95" y="625475"/>
            <a:ext cx="8832850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+mn-lt"/>
                <a:cs typeface="Arial" panose="020B0604020202020204" pitchFamily="34" charset="0"/>
              </a:rPr>
              <a:t>What does this program do?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20D9C4-2C76-4B96-A566-90A9EE87092F}"/>
              </a:ext>
            </a:extLst>
          </p:cNvPr>
          <p:cNvSpPr/>
          <p:nvPr/>
        </p:nvSpPr>
        <p:spPr>
          <a:xfrm>
            <a:off x="1948260" y="1059323"/>
            <a:ext cx="8295480" cy="53553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341313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sum = 0;</a:t>
            </a:r>
          </a:p>
          <a:p>
            <a:pPr marL="341313"/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 = 1; i &lt;= 10; i++)</a:t>
            </a:r>
          </a:p>
          <a:p>
            <a:pPr marL="738188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sum +=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41313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"Sum from 1 to 10 is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sum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41313"/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1313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sum = 0;</a:t>
            </a:r>
          </a:p>
          <a:p>
            <a:pPr marL="341313"/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 = 20; i &lt;= 37; i++)</a:t>
            </a:r>
          </a:p>
          <a:p>
            <a:pPr marL="738188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sum +=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41313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"Sum from 20 to 37 is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sum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41313"/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1313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sum = 0;</a:t>
            </a:r>
          </a:p>
          <a:p>
            <a:pPr marL="341313"/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 = 35; i &lt;= 49; i++)</a:t>
            </a:r>
          </a:p>
          <a:p>
            <a:pPr marL="738188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sum +=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41313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"Sum from 35 to 49 is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sum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41313"/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1313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9A5BC143-91BA-4412-8D37-FEBFA1EED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7738" y="2257496"/>
            <a:ext cx="6067347" cy="739899"/>
          </a:xfrm>
          <a:prstGeom prst="rect">
            <a:avLst/>
          </a:prstGeom>
          <a:solidFill>
            <a:srgbClr val="FF6600">
              <a:alpha val="2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AF9F8D11-F3D0-4542-9B65-8CBEAFB8F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7738" y="3601670"/>
            <a:ext cx="6067347" cy="739899"/>
          </a:xfrm>
          <a:prstGeom prst="rect">
            <a:avLst/>
          </a:prstGeom>
          <a:solidFill>
            <a:srgbClr val="FF6600">
              <a:alpha val="2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DED8849-D983-4436-ACED-DA3AA83BA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7738" y="4984250"/>
            <a:ext cx="6067347" cy="739899"/>
          </a:xfrm>
          <a:prstGeom prst="rect">
            <a:avLst/>
          </a:prstGeom>
          <a:solidFill>
            <a:srgbClr val="FF6600">
              <a:alpha val="2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8DCC2C-9578-4886-A11D-381E3CF8BE47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45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Rectangle 7">
            <a:extLst>
              <a:ext uri="{FF2B5EF4-FFF2-40B4-BE49-F238E27FC236}">
                <a16:creationId xmlns:a16="http://schemas.microsoft.com/office/drawing/2014/main" id="{8194EE9A-2B8F-4AFD-8D4E-77A3CBFBD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535" y="1005524"/>
            <a:ext cx="5492750" cy="2304806"/>
          </a:xfrm>
          <a:prstGeom prst="rect">
            <a:avLst/>
          </a:prstGeom>
          <a:solidFill>
            <a:srgbClr val="FFC000">
              <a:alpha val="20000"/>
            </a:srgb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7177" name="Rectangle 8">
            <a:extLst>
              <a:ext uri="{FF2B5EF4-FFF2-40B4-BE49-F238E27FC236}">
                <a16:creationId xmlns:a16="http://schemas.microsoft.com/office/drawing/2014/main" id="{209D6C62-6C2F-4303-B13A-0C8079C9E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7903" y="4155174"/>
            <a:ext cx="1382713" cy="268957"/>
          </a:xfrm>
          <a:prstGeom prst="rect">
            <a:avLst/>
          </a:prstGeom>
          <a:solidFill>
            <a:srgbClr val="87FF19">
              <a:alpha val="20000"/>
            </a:srgb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 altLang="en-US">
              <a:highlight>
                <a:srgbClr val="00FF00"/>
              </a:highlight>
            </a:endParaRPr>
          </a:p>
        </p:txBody>
      </p:sp>
      <p:sp>
        <p:nvSpPr>
          <p:cNvPr id="7178" name="Rectangle 9">
            <a:extLst>
              <a:ext uri="{FF2B5EF4-FFF2-40B4-BE49-F238E27FC236}">
                <a16:creationId xmlns:a16="http://schemas.microsoft.com/office/drawing/2014/main" id="{847EB5E6-BB98-4822-B557-47A6C5EE5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890" y="4478412"/>
            <a:ext cx="1498600" cy="214499"/>
          </a:xfrm>
          <a:prstGeom prst="rect">
            <a:avLst/>
          </a:prstGeom>
          <a:solidFill>
            <a:srgbClr val="87FF19">
              <a:alpha val="20000"/>
            </a:srgb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 altLang="en-US">
              <a:highlight>
                <a:srgbClr val="00FF00"/>
              </a:highlight>
            </a:endParaRPr>
          </a:p>
        </p:txBody>
      </p:sp>
      <p:sp>
        <p:nvSpPr>
          <p:cNvPr id="7179" name="Rectangle 10">
            <a:extLst>
              <a:ext uri="{FF2B5EF4-FFF2-40B4-BE49-F238E27FC236}">
                <a16:creationId xmlns:a16="http://schemas.microsoft.com/office/drawing/2014/main" id="{83E33EC6-11B2-4605-9B12-95A3417B6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890" y="4731316"/>
            <a:ext cx="1498600" cy="268957"/>
          </a:xfrm>
          <a:prstGeom prst="rect">
            <a:avLst/>
          </a:prstGeom>
          <a:solidFill>
            <a:srgbClr val="87FF19">
              <a:alpha val="20000"/>
            </a:srgb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 altLang="en-US">
              <a:highlight>
                <a:srgbClr val="00FF00"/>
              </a:highligh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D8C385-574C-480C-8535-5FA87C801E2E}"/>
              </a:ext>
            </a:extLst>
          </p:cNvPr>
          <p:cNvSpPr/>
          <p:nvPr/>
        </p:nvSpPr>
        <p:spPr>
          <a:xfrm>
            <a:off x="1105536" y="1016869"/>
            <a:ext cx="848796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i1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i2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96875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 = 0;</a:t>
            </a:r>
          </a:p>
          <a:p>
            <a:pPr marL="396875"/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i = </a:t>
            </a:r>
            <a:r>
              <a:rPr lang="nn-NO" sz="2000" dirty="0">
                <a:solidFill>
                  <a:srgbClr val="808080"/>
                </a:solidFill>
                <a:latin typeface="Consolas" panose="020B0609020204030204" pitchFamily="49" charset="0"/>
              </a:rPr>
              <a:t>i1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nn-NO" sz="2000" dirty="0">
                <a:solidFill>
                  <a:srgbClr val="808080"/>
                </a:solidFill>
                <a:latin typeface="Consolas" panose="020B0609020204030204" pitchFamily="49" charset="0"/>
              </a:rPr>
              <a:t>i2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; i++)</a:t>
            </a:r>
          </a:p>
          <a:p>
            <a:pPr marL="803275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sum +=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96875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96875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"Sum from 1 to 10 is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sum(1, 10)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96875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"Sum from 20 to 37 is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sum(20, 37)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96875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"Sum from 35 to 49 is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sum(35, 49)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96875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917531D4-9D85-4370-8C05-16C21EB496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155799" y="-205500"/>
            <a:ext cx="7872412" cy="701675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C00000"/>
                </a:solidFill>
                <a:sym typeface="Arial"/>
              </a:rPr>
              <a:t>An Alternative</a:t>
            </a:r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F7CCFAFB-F279-4B5C-AF6F-FD5862C84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61" y="436879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61772B-47B6-464D-8897-D683F64D68C9}"/>
              </a:ext>
            </a:extLst>
          </p:cNvPr>
          <p:cNvSpPr/>
          <p:nvPr/>
        </p:nvSpPr>
        <p:spPr>
          <a:xfrm>
            <a:off x="6713619" y="1553415"/>
            <a:ext cx="252024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b="1">
                <a:solidFill>
                  <a:srgbClr val="8C5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Definition</a:t>
            </a:r>
          </a:p>
          <a:p>
            <a:r>
              <a:rPr lang="en-US" sz="2000" b="1">
                <a:solidFill>
                  <a:srgbClr val="8C5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(Define a Function)</a:t>
            </a:r>
            <a:endParaRPr lang="en-US" sz="1000" b="1">
              <a:solidFill>
                <a:srgbClr val="8C5F0E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1DAB4E-FD2E-4713-82DA-B3C6B1B7059B}"/>
              </a:ext>
            </a:extLst>
          </p:cNvPr>
          <p:cNvSpPr/>
          <p:nvPr/>
        </p:nvSpPr>
        <p:spPr>
          <a:xfrm>
            <a:off x="6713619" y="3738588"/>
            <a:ext cx="18085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b="1">
                <a:solidFill>
                  <a:srgbClr val="3499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Call</a:t>
            </a:r>
            <a:endParaRPr lang="en-US" sz="1000" b="1">
              <a:solidFill>
                <a:srgbClr val="349934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3B1943-9BEE-4547-9BF0-C17D384F10C6}"/>
              </a:ext>
            </a:extLst>
          </p:cNvPr>
          <p:cNvSpPr/>
          <p:nvPr/>
        </p:nvSpPr>
        <p:spPr>
          <a:xfrm>
            <a:off x="6613213" y="5055967"/>
            <a:ext cx="24625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b="1" dirty="0">
                <a:solidFill>
                  <a:srgbClr val="3499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(Invoke a function)</a:t>
            </a:r>
            <a:endParaRPr lang="en-US" sz="1000" b="1" dirty="0">
              <a:solidFill>
                <a:srgbClr val="3499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385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 animBg="1"/>
      <p:bldP spid="7177" grpId="0" animBg="1"/>
      <p:bldP spid="7178" grpId="0" animBg="1"/>
      <p:bldP spid="7179" grpId="0" animBg="1"/>
      <p:bldP spid="7" grpId="0"/>
      <p:bldP spid="21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D8C385-574C-480C-8535-5FA87C801E2E}"/>
              </a:ext>
            </a:extLst>
          </p:cNvPr>
          <p:cNvSpPr/>
          <p:nvPr/>
        </p:nvSpPr>
        <p:spPr>
          <a:xfrm>
            <a:off x="1755776" y="1545189"/>
            <a:ext cx="848796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sum(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808080"/>
                </a:solidFill>
                <a:latin typeface="Consolas" panose="020B0609020204030204" pitchFamily="49" charset="0"/>
              </a:rPr>
              <a:t>i1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808080"/>
                </a:solidFill>
                <a:latin typeface="Consolas" panose="020B0609020204030204" pitchFamily="49" charset="0"/>
              </a:rPr>
              <a:t>i2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96875"/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 = 0;</a:t>
            </a:r>
          </a:p>
          <a:p>
            <a:pPr marL="396875"/>
            <a:r>
              <a:rPr lang="nn-NO" sz="200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0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000">
                <a:solidFill>
                  <a:srgbClr val="000000"/>
                </a:solidFill>
                <a:latin typeface="Consolas" panose="020B0609020204030204" pitchFamily="49" charset="0"/>
              </a:rPr>
              <a:t> i = </a:t>
            </a:r>
            <a:r>
              <a:rPr lang="nn-NO" sz="2000">
                <a:solidFill>
                  <a:srgbClr val="808080"/>
                </a:solidFill>
                <a:latin typeface="Consolas" panose="020B0609020204030204" pitchFamily="49" charset="0"/>
              </a:rPr>
              <a:t>i1</a:t>
            </a:r>
            <a:r>
              <a:rPr lang="nn-NO" sz="200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nn-NO" sz="2000">
                <a:solidFill>
                  <a:srgbClr val="808080"/>
                </a:solidFill>
                <a:latin typeface="Consolas" panose="020B0609020204030204" pitchFamily="49" charset="0"/>
              </a:rPr>
              <a:t>i2</a:t>
            </a:r>
            <a:r>
              <a:rPr lang="nn-NO" sz="2000">
                <a:solidFill>
                  <a:srgbClr val="000000"/>
                </a:solidFill>
                <a:latin typeface="Consolas" panose="020B0609020204030204" pitchFamily="49" charset="0"/>
              </a:rPr>
              <a:t>; i++)</a:t>
            </a:r>
          </a:p>
          <a:p>
            <a:pPr marL="803275"/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sum += </a:t>
            </a:r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96875"/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96875"/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"Sum from 1 to 10 is 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sum(1, 10)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96875"/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"Sum from 20 to 37 is 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sum(20, 37)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96875"/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"Sum from 35 to 49 is 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sum(35, 49)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96875"/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917531D4-9D85-4370-8C05-16C21EB496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319588" y="-143350"/>
            <a:ext cx="7872412" cy="701675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C00000"/>
                </a:solidFill>
                <a:sym typeface="Arial"/>
              </a:rPr>
              <a:t>An Alternative</a:t>
            </a:r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F7CCFAFB-F279-4B5C-AF6F-FD5862C84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9174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CA192B82-44B3-4BB4-B1FF-C0AF70E8E9AC}"/>
              </a:ext>
            </a:extLst>
          </p:cNvPr>
          <p:cNvSpPr/>
          <p:nvPr/>
        </p:nvSpPr>
        <p:spPr bwMode="auto">
          <a:xfrm>
            <a:off x="1772316" y="772504"/>
            <a:ext cx="1174474" cy="589571"/>
          </a:xfrm>
          <a:prstGeom prst="wedgeRoundRectCallout">
            <a:avLst>
              <a:gd name="adj1" fmla="val -19137"/>
              <a:gd name="adj2" fmla="val 101869"/>
              <a:gd name="adj3" fmla="val 16667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 value type</a:t>
            </a:r>
          </a:p>
        </p:txBody>
      </p:sp>
      <p:sp>
        <p:nvSpPr>
          <p:cNvPr id="27" name="Speech Bubble: Rectangle with Corners Rounded 26">
            <a:extLst>
              <a:ext uri="{FF2B5EF4-FFF2-40B4-BE49-F238E27FC236}">
                <a16:creationId xmlns:a16="http://schemas.microsoft.com/office/drawing/2014/main" id="{EF880C5B-FB04-4103-9A3B-21C194E57565}"/>
              </a:ext>
            </a:extLst>
          </p:cNvPr>
          <p:cNvSpPr/>
          <p:nvPr/>
        </p:nvSpPr>
        <p:spPr bwMode="auto">
          <a:xfrm>
            <a:off x="4751826" y="3559555"/>
            <a:ext cx="1577957" cy="350684"/>
          </a:xfrm>
          <a:prstGeom prst="wedgeRoundRectCallout">
            <a:avLst>
              <a:gd name="adj1" fmla="val -131642"/>
              <a:gd name="adj2" fmla="val -87110"/>
              <a:gd name="adj3" fmla="val 16667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 value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78BBDBA-E53C-4E09-9C24-0C1A872AE9E0}"/>
              </a:ext>
            </a:extLst>
          </p:cNvPr>
          <p:cNvGrpSpPr/>
          <p:nvPr/>
        </p:nvGrpSpPr>
        <p:grpSpPr>
          <a:xfrm>
            <a:off x="2908386" y="1565508"/>
            <a:ext cx="2724755" cy="731526"/>
            <a:chOff x="1883650" y="1052398"/>
            <a:chExt cx="3873705" cy="731526"/>
          </a:xfrm>
        </p:grpSpPr>
        <p:sp>
          <p:nvSpPr>
            <p:cNvPr id="29" name="Rectangle 7">
              <a:extLst>
                <a:ext uri="{FF2B5EF4-FFF2-40B4-BE49-F238E27FC236}">
                  <a16:creationId xmlns:a16="http://schemas.microsoft.com/office/drawing/2014/main" id="{9B631C12-8DC2-4055-8C6D-1D328313F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3650" y="1052398"/>
              <a:ext cx="2831549" cy="415210"/>
            </a:xfrm>
            <a:prstGeom prst="rect">
              <a:avLst/>
            </a:prstGeom>
            <a:solidFill>
              <a:srgbClr val="FF5050">
                <a:alpha val="20000"/>
              </a:srgbClr>
            </a:solidFill>
            <a:ln w="12700">
              <a:solidFill>
                <a:schemeClr val="bg2">
                  <a:lumMod val="40000"/>
                  <a:lumOff val="6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7D25526-4AD5-46A2-820C-01967A557526}"/>
                </a:ext>
              </a:extLst>
            </p:cNvPr>
            <p:cNvSpPr/>
            <p:nvPr/>
          </p:nvSpPr>
          <p:spPr>
            <a:xfrm>
              <a:off x="2429643" y="1322259"/>
              <a:ext cx="332771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400">
                  <a:solidFill>
                    <a:srgbClr val="C00000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Parameters List</a:t>
              </a:r>
              <a:endParaRPr lang="en-US" sz="1050">
                <a:solidFill>
                  <a:srgbClr val="C00000"/>
                </a:solidFill>
              </a:endParaRPr>
            </a:p>
          </p:txBody>
        </p:sp>
      </p:grp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2E615117-EFDB-4137-B5FE-87A8C7315275}"/>
              </a:ext>
            </a:extLst>
          </p:cNvPr>
          <p:cNvSpPr/>
          <p:nvPr/>
        </p:nvSpPr>
        <p:spPr bwMode="auto">
          <a:xfrm>
            <a:off x="3292436" y="1011238"/>
            <a:ext cx="960125" cy="589571"/>
          </a:xfrm>
          <a:prstGeom prst="wedgeRoundRectCallout">
            <a:avLst>
              <a:gd name="adj1" fmla="val -115116"/>
              <a:gd name="adj2" fmla="val 61055"/>
              <a:gd name="adj3" fmla="val 16667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 name</a:t>
            </a:r>
          </a:p>
        </p:txBody>
      </p:sp>
    </p:spTree>
    <p:extLst>
      <p:ext uri="{BB962C8B-B14F-4D97-AF65-F5344CB8AC3E}">
        <p14:creationId xmlns:p14="http://schemas.microsoft.com/office/powerpoint/2010/main" val="218905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D8C385-574C-480C-8535-5FA87C801E2E}"/>
              </a:ext>
            </a:extLst>
          </p:cNvPr>
          <p:cNvSpPr/>
          <p:nvPr/>
        </p:nvSpPr>
        <p:spPr>
          <a:xfrm>
            <a:off x="1613536" y="1219606"/>
            <a:ext cx="848796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i1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i2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96875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 = 0;</a:t>
            </a:r>
          </a:p>
          <a:p>
            <a:pPr marL="396875"/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i = </a:t>
            </a:r>
            <a:r>
              <a:rPr lang="nn-NO" sz="2000" dirty="0">
                <a:solidFill>
                  <a:srgbClr val="808080"/>
                </a:solidFill>
                <a:latin typeface="Consolas" panose="020B0609020204030204" pitchFamily="49" charset="0"/>
              </a:rPr>
              <a:t>i1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nn-NO" sz="2000" dirty="0">
                <a:solidFill>
                  <a:srgbClr val="808080"/>
                </a:solidFill>
                <a:latin typeface="Consolas" panose="020B0609020204030204" pitchFamily="49" charset="0"/>
              </a:rPr>
              <a:t>i2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; i++)</a:t>
            </a:r>
          </a:p>
          <a:p>
            <a:pPr marL="803275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sum +=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96875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96875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"Sum from 1 to 10 is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sum(1, 10)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396875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"Sum from 20 to 37 is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sum(20, 37)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396875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"Sum from 35 to 49 is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sum(35, 49)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396875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917531D4-9D85-4370-8C05-16C21EB496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423342" y="-194739"/>
            <a:ext cx="7872412" cy="701675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C00000"/>
                </a:solidFill>
                <a:sym typeface="Arial"/>
              </a:rPr>
              <a:t>An Alternative</a:t>
            </a:r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F7CCFAFB-F279-4B5C-AF6F-FD5862C84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761" y="457152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95B562F-8005-4BBC-BE6D-E6419024FE8C}"/>
              </a:ext>
            </a:extLst>
          </p:cNvPr>
          <p:cNvGrpSpPr/>
          <p:nvPr/>
        </p:nvGrpSpPr>
        <p:grpSpPr>
          <a:xfrm>
            <a:off x="1613536" y="1202299"/>
            <a:ext cx="7232281" cy="461665"/>
            <a:chOff x="231775" y="877168"/>
            <a:chExt cx="8479544" cy="461665"/>
          </a:xfrm>
        </p:grpSpPr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FF6CF830-46B6-46D2-8CE9-F2BBEB310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75" y="971082"/>
              <a:ext cx="8479544" cy="272823"/>
            </a:xfrm>
            <a:prstGeom prst="rect">
              <a:avLst/>
            </a:prstGeom>
            <a:solidFill>
              <a:srgbClr val="19FF81">
                <a:alpha val="20000"/>
              </a:srgbClr>
            </a:solidFill>
            <a:ln w="12700">
              <a:solidFill>
                <a:schemeClr val="bg2">
                  <a:lumMod val="40000"/>
                  <a:lumOff val="6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F2AD65-05A8-44A4-85B2-4FD27613631E}"/>
                </a:ext>
              </a:extLst>
            </p:cNvPr>
            <p:cNvSpPr/>
            <p:nvPr/>
          </p:nvSpPr>
          <p:spPr>
            <a:xfrm>
              <a:off x="5071730" y="877168"/>
              <a:ext cx="290268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400" dirty="0">
                  <a:solidFill>
                    <a:srgbClr val="00B050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Function header</a:t>
              </a:r>
              <a:endParaRPr lang="en-US" sz="105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292864E-3E73-4DEC-A796-93552A71828A}"/>
              </a:ext>
            </a:extLst>
          </p:cNvPr>
          <p:cNvGrpSpPr/>
          <p:nvPr/>
        </p:nvGrpSpPr>
        <p:grpSpPr>
          <a:xfrm>
            <a:off x="1613535" y="1645447"/>
            <a:ext cx="8479544" cy="1839832"/>
            <a:chOff x="231775" y="971082"/>
            <a:chExt cx="8479544" cy="1839832"/>
          </a:xfrm>
        </p:grpSpPr>
        <p:sp>
          <p:nvSpPr>
            <p:cNvPr id="18" name="Rectangle 7">
              <a:extLst>
                <a:ext uri="{FF2B5EF4-FFF2-40B4-BE49-F238E27FC236}">
                  <a16:creationId xmlns:a16="http://schemas.microsoft.com/office/drawing/2014/main" id="{7E5EFD50-6C90-4E69-BE34-551E72D0A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75" y="971082"/>
              <a:ext cx="8479544" cy="1839832"/>
            </a:xfrm>
            <a:prstGeom prst="rect">
              <a:avLst/>
            </a:prstGeom>
            <a:solidFill>
              <a:srgbClr val="00B0F0">
                <a:alpha val="20000"/>
              </a:srgbClr>
            </a:solidFill>
            <a:ln w="12700">
              <a:solidFill>
                <a:schemeClr val="bg2">
                  <a:lumMod val="40000"/>
                  <a:lumOff val="6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BCCE90D-154C-40C2-B1AF-A7B8FD39BE13}"/>
                </a:ext>
              </a:extLst>
            </p:cNvPr>
            <p:cNvSpPr/>
            <p:nvPr/>
          </p:nvSpPr>
          <p:spPr>
            <a:xfrm>
              <a:off x="6300081" y="1654753"/>
              <a:ext cx="211949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400">
                  <a:solidFill>
                    <a:srgbClr val="0070C0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Function body</a:t>
              </a:r>
              <a:endParaRPr lang="en-US" sz="1050">
                <a:solidFill>
                  <a:srgbClr val="0070C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0D3D02C-019A-4373-897E-3B0D56CCAD32}"/>
              </a:ext>
            </a:extLst>
          </p:cNvPr>
          <p:cNvGrpSpPr/>
          <p:nvPr/>
        </p:nvGrpSpPr>
        <p:grpSpPr>
          <a:xfrm>
            <a:off x="2228476" y="795972"/>
            <a:ext cx="2968869" cy="797818"/>
            <a:chOff x="846715" y="568955"/>
            <a:chExt cx="2968869" cy="797818"/>
          </a:xfrm>
        </p:grpSpPr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1716562E-F4C5-4F66-9184-2C435B4ED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715" y="971082"/>
              <a:ext cx="2756739" cy="395691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 w="12700">
              <a:solidFill>
                <a:schemeClr val="bg2">
                  <a:lumMod val="40000"/>
                  <a:lumOff val="6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877D137-4557-4083-A06E-85561B06A312}"/>
                </a:ext>
              </a:extLst>
            </p:cNvPr>
            <p:cNvSpPr/>
            <p:nvPr/>
          </p:nvSpPr>
          <p:spPr>
            <a:xfrm>
              <a:off x="1058845" y="568955"/>
              <a:ext cx="275673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400">
                  <a:solidFill>
                    <a:srgbClr val="8C5F0E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Function signature</a:t>
              </a:r>
              <a:endParaRPr lang="en-US" sz="1050">
                <a:solidFill>
                  <a:srgbClr val="8C5F0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208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18</a:t>
            </a:fld>
            <a:endParaRPr lang="en-US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BB6305-2833-3BA0-AF08-454F88A6D240}"/>
              </a:ext>
            </a:extLst>
          </p:cNvPr>
          <p:cNvSpPr/>
          <p:nvPr/>
        </p:nvSpPr>
        <p:spPr bwMode="auto">
          <a:xfrm>
            <a:off x="4983480" y="1819711"/>
            <a:ext cx="3810000" cy="1803586"/>
          </a:xfrm>
          <a:prstGeom prst="rect">
            <a:avLst/>
          </a:prstGeom>
          <a:solidFill>
            <a:srgbClr val="D3FFAB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03B548-5B72-7449-F26D-FA8AEBF0718C}"/>
              </a:ext>
            </a:extLst>
          </p:cNvPr>
          <p:cNvSpPr/>
          <p:nvPr/>
        </p:nvSpPr>
        <p:spPr bwMode="auto">
          <a:xfrm>
            <a:off x="1021080" y="4015670"/>
            <a:ext cx="3810000" cy="1803586"/>
          </a:xfrm>
          <a:prstGeom prst="rect">
            <a:avLst/>
          </a:prstGeom>
          <a:solidFill>
            <a:srgbClr val="D3FFAB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D9D7E6-0F8B-55CD-E65E-25E09395E2BD}"/>
              </a:ext>
            </a:extLst>
          </p:cNvPr>
          <p:cNvSpPr/>
          <p:nvPr/>
        </p:nvSpPr>
        <p:spPr bwMode="auto">
          <a:xfrm>
            <a:off x="4983480" y="1293978"/>
            <a:ext cx="3810000" cy="339133"/>
          </a:xfrm>
          <a:prstGeom prst="rect">
            <a:avLst/>
          </a:prstGeom>
          <a:solidFill>
            <a:srgbClr val="FFEEB9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DE17F1-5609-BA0C-37A4-1498AD6E8220}"/>
              </a:ext>
            </a:extLst>
          </p:cNvPr>
          <p:cNvSpPr/>
          <p:nvPr/>
        </p:nvSpPr>
        <p:spPr bwMode="auto">
          <a:xfrm>
            <a:off x="4983480" y="3822196"/>
            <a:ext cx="3810000" cy="2496324"/>
          </a:xfrm>
          <a:prstGeom prst="rect">
            <a:avLst/>
          </a:prstGeom>
          <a:solidFill>
            <a:srgbClr val="FFEEB9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9B01EE-8CCB-44DD-542A-8749C5F3CC1B}"/>
              </a:ext>
            </a:extLst>
          </p:cNvPr>
          <p:cNvSpPr/>
          <p:nvPr/>
        </p:nvSpPr>
        <p:spPr bwMode="auto">
          <a:xfrm>
            <a:off x="1021080" y="1287465"/>
            <a:ext cx="3810000" cy="2534731"/>
          </a:xfrm>
          <a:prstGeom prst="rect">
            <a:avLst/>
          </a:prstGeom>
          <a:solidFill>
            <a:srgbClr val="FFEEB9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5EE9D01-2D2D-8F33-402B-F142D72A5532}"/>
              </a:ext>
            </a:extLst>
          </p:cNvPr>
          <p:cNvSpPr txBox="1">
            <a:spLocks/>
          </p:cNvSpPr>
          <p:nvPr/>
        </p:nvSpPr>
        <p:spPr bwMode="auto">
          <a:xfrm>
            <a:off x="1021080" y="1287465"/>
            <a:ext cx="3810000" cy="5031056"/>
          </a:xfrm>
          <a:prstGeom prst="rect">
            <a:avLst/>
          </a:prstGeom>
          <a:noFill/>
          <a:ln>
            <a:solidFill>
              <a:srgbClr val="5F5F5F">
                <a:lumMod val="40000"/>
                <a:lumOff val="60000"/>
              </a:srgb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max(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num1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num2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{</a:t>
            </a:r>
          </a:p>
          <a:p>
            <a:pPr marL="34131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result;</a:t>
            </a:r>
          </a:p>
          <a:p>
            <a:pPr marL="34131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if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num1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&gt;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num2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)</a:t>
            </a:r>
          </a:p>
          <a:p>
            <a:pPr marL="68421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result =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num1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;</a:t>
            </a:r>
          </a:p>
          <a:p>
            <a:pPr marL="34131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else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 panose="020B0604020202020204" pitchFamily="34" charset="0"/>
            </a:endParaRPr>
          </a:p>
          <a:p>
            <a:pPr marL="68421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result =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num2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;</a:t>
            </a:r>
          </a:p>
          <a:p>
            <a:pPr marL="34131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return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result;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main()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{</a:t>
            </a:r>
          </a:p>
          <a:p>
            <a:pPr marL="34131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i = 5;</a:t>
            </a:r>
          </a:p>
          <a:p>
            <a:pPr marL="34131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j = 2;</a:t>
            </a:r>
          </a:p>
          <a:p>
            <a:pPr marL="34131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k = max(i, j);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}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CBD0ACDD-B294-4514-4560-4573B270AC6C}"/>
              </a:ext>
            </a:extLst>
          </p:cNvPr>
          <p:cNvSpPr txBox="1">
            <a:spLocks/>
          </p:cNvSpPr>
          <p:nvPr/>
        </p:nvSpPr>
        <p:spPr bwMode="auto">
          <a:xfrm>
            <a:off x="4983480" y="1287465"/>
            <a:ext cx="3810000" cy="5031056"/>
          </a:xfrm>
          <a:prstGeom prst="rect">
            <a:avLst/>
          </a:prstGeom>
          <a:noFill/>
          <a:ln w="9525">
            <a:solidFill>
              <a:srgbClr val="5F5F5F">
                <a:lumMod val="40000"/>
                <a:lumOff val="60000"/>
              </a:srgb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max(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num1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num2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main()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{</a:t>
            </a:r>
          </a:p>
          <a:p>
            <a:pPr marL="34131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i = 5;</a:t>
            </a:r>
          </a:p>
          <a:p>
            <a:pPr marL="34131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j = 2;</a:t>
            </a:r>
          </a:p>
          <a:p>
            <a:pPr marL="34131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k = max(i, j);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max(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num1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num2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{</a:t>
            </a:r>
          </a:p>
          <a:p>
            <a:pPr marL="34131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result;</a:t>
            </a:r>
          </a:p>
          <a:p>
            <a:pPr marL="34131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if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num1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&gt;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num2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)</a:t>
            </a:r>
          </a:p>
          <a:p>
            <a:pPr marL="68421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result =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num1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;</a:t>
            </a:r>
          </a:p>
          <a:p>
            <a:pPr marL="34131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else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 panose="020B0604020202020204" pitchFamily="34" charset="0"/>
            </a:endParaRPr>
          </a:p>
          <a:p>
            <a:pPr marL="68421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result =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num2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;</a:t>
            </a:r>
          </a:p>
          <a:p>
            <a:pPr marL="34131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return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result;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F7D4D2-15D9-FC5B-68CB-44E34F4E4AE8}"/>
              </a:ext>
            </a:extLst>
          </p:cNvPr>
          <p:cNvSpPr/>
          <p:nvPr/>
        </p:nvSpPr>
        <p:spPr>
          <a:xfrm rot="16200000">
            <a:off x="-288714" y="2379727"/>
            <a:ext cx="22829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rgbClr val="8C5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Declaration </a:t>
            </a:r>
            <a:endParaRPr lang="en-US" sz="1600" b="1">
              <a:solidFill>
                <a:srgbClr val="8C5F0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D7F473-807F-0750-F905-FF0D71D4601F}"/>
              </a:ext>
            </a:extLst>
          </p:cNvPr>
          <p:cNvSpPr/>
          <p:nvPr/>
        </p:nvSpPr>
        <p:spPr>
          <a:xfrm rot="16200000">
            <a:off x="7835828" y="4901081"/>
            <a:ext cx="22829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rgbClr val="8C5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Declaration </a:t>
            </a:r>
            <a:endParaRPr lang="en-US" sz="1600" b="1">
              <a:solidFill>
                <a:srgbClr val="8C5F0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95DF3A-D997-C097-5A6C-2F59E1E8D598}"/>
              </a:ext>
            </a:extLst>
          </p:cNvPr>
          <p:cNvSpPr/>
          <p:nvPr/>
        </p:nvSpPr>
        <p:spPr>
          <a:xfrm>
            <a:off x="5943136" y="847818"/>
            <a:ext cx="30027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solidFill>
                  <a:srgbClr val="8C5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Prototype</a:t>
            </a:r>
            <a:endParaRPr lang="en-US" sz="2400" b="1">
              <a:solidFill>
                <a:srgbClr val="8C5F0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32EA9649-E635-542F-8625-51AB321700D6}"/>
              </a:ext>
            </a:extLst>
          </p:cNvPr>
          <p:cNvSpPr txBox="1">
            <a:spLocks noChangeArrowheads="1"/>
          </p:cNvSpPr>
          <p:nvPr/>
        </p:nvSpPr>
        <p:spPr>
          <a:xfrm>
            <a:off x="1545471" y="-125826"/>
            <a:ext cx="8795329" cy="6469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b="1" dirty="0">
                <a:solidFill>
                  <a:srgbClr val="C00000"/>
                </a:solidFill>
                <a:sym typeface="Arial"/>
              </a:rPr>
              <a:t>Function Declaration(Two Options) </a:t>
            </a:r>
          </a:p>
        </p:txBody>
      </p:sp>
    </p:spTree>
    <p:extLst>
      <p:ext uri="{BB962C8B-B14F-4D97-AF65-F5344CB8AC3E}">
        <p14:creationId xmlns:p14="http://schemas.microsoft.com/office/powerpoint/2010/main" val="189064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0" grpId="0" animBg="1"/>
      <p:bldP spid="14" grpId="0" uiExpand="1" build="p" animBg="1"/>
      <p:bldP spid="16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E817FEB1-5164-417F-9229-693535DED77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48560" y="-101600"/>
            <a:ext cx="7772400" cy="615950"/>
          </a:xfrm>
        </p:spPr>
        <p:txBody>
          <a:bodyPr>
            <a:normAutofit/>
          </a:bodyPr>
          <a:lstStyle/>
          <a:p>
            <a:pPr algn="ctr"/>
            <a:r>
              <a:rPr lang="en-US" altLang="en-US" b="1" dirty="0">
                <a:solidFill>
                  <a:srgbClr val="C00000"/>
                </a:solidFill>
                <a:sym typeface="Arial"/>
              </a:rPr>
              <a:t>Overloading Functions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FF763716-B315-486B-A05D-4047015D028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91404" y="747938"/>
            <a:ext cx="9885680" cy="36735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With </a:t>
            </a:r>
            <a:r>
              <a:rPr lang="en-US" sz="2400" b="1" i="1" dirty="0">
                <a:solidFill>
                  <a:srgbClr val="0070C0"/>
                </a:solidFill>
              </a:rPr>
              <a:t>function overloading</a:t>
            </a:r>
            <a:r>
              <a:rPr lang="en-US" sz="2400" dirty="0"/>
              <a:t>, multiple functions can have the </a:t>
            </a:r>
            <a:r>
              <a:rPr lang="en-US" sz="2400" b="1" i="1" dirty="0"/>
              <a:t>same name </a:t>
            </a:r>
            <a:r>
              <a:rPr lang="en-US" sz="2400" dirty="0"/>
              <a:t>with </a:t>
            </a:r>
            <a:r>
              <a:rPr lang="en-US" sz="2400" b="1" i="1" dirty="0"/>
              <a:t>different parameters ( </a:t>
            </a:r>
            <a:r>
              <a:rPr lang="en-US" sz="2400" b="1" i="1" dirty="0">
                <a:solidFill>
                  <a:srgbClr val="0070C0"/>
                </a:solidFill>
              </a:rPr>
              <a:t>data type </a:t>
            </a:r>
            <a:r>
              <a:rPr lang="en-US" sz="2400" b="1" i="1" dirty="0"/>
              <a:t>or </a:t>
            </a:r>
            <a:r>
              <a:rPr lang="en-US" sz="2400" b="1" i="1" dirty="0">
                <a:solidFill>
                  <a:srgbClr val="0070C0"/>
                </a:solidFill>
              </a:rPr>
              <a:t>number </a:t>
            </a:r>
            <a:r>
              <a:rPr lang="en-US" sz="2400" b="1" i="1" dirty="0"/>
              <a:t>of parameters )</a:t>
            </a:r>
            <a:r>
              <a:rPr lang="en-US" sz="2400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0C6E2C-90F6-0EE5-B8E8-150473A5CFFB}"/>
              </a:ext>
            </a:extLst>
          </p:cNvPr>
          <p:cNvSpPr/>
          <p:nvPr/>
        </p:nvSpPr>
        <p:spPr>
          <a:xfrm>
            <a:off x="2752846" y="2336157"/>
            <a:ext cx="5867400" cy="14230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0000CD"/>
                </a:solidFill>
              </a:rPr>
              <a:t>int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 err="1">
                <a:solidFill>
                  <a:srgbClr val="000000"/>
                </a:solidFill>
              </a:rPr>
              <a:t>myFunction</a:t>
            </a:r>
            <a:r>
              <a:rPr lang="en-US" sz="2000" b="1" dirty="0">
                <a:solidFill>
                  <a:srgbClr val="000000"/>
                </a:solidFill>
              </a:rPr>
              <a:t>(</a:t>
            </a:r>
            <a:r>
              <a:rPr lang="en-US" sz="2000" b="1" dirty="0" err="1">
                <a:solidFill>
                  <a:srgbClr val="0000CD"/>
                </a:solidFill>
              </a:rPr>
              <a:t>int</a:t>
            </a:r>
            <a:r>
              <a:rPr lang="en-US" sz="2000" b="1" dirty="0">
                <a:solidFill>
                  <a:srgbClr val="000000"/>
                </a:solidFill>
              </a:rPr>
              <a:t> x)</a:t>
            </a:r>
            <a:br>
              <a:rPr lang="en-US" sz="2000" b="1" dirty="0">
                <a:solidFill>
                  <a:srgbClr val="000000"/>
                </a:solidFill>
              </a:rPr>
            </a:br>
            <a:r>
              <a:rPr lang="en-US" sz="2000" b="1" dirty="0">
                <a:solidFill>
                  <a:srgbClr val="0000CD"/>
                </a:solidFill>
              </a:rPr>
              <a:t>float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 err="1">
                <a:solidFill>
                  <a:srgbClr val="000000"/>
                </a:solidFill>
              </a:rPr>
              <a:t>myFunction</a:t>
            </a:r>
            <a:r>
              <a:rPr lang="en-US" sz="2000" b="1" dirty="0">
                <a:solidFill>
                  <a:srgbClr val="000000"/>
                </a:solidFill>
              </a:rPr>
              <a:t>(</a:t>
            </a:r>
            <a:r>
              <a:rPr lang="en-US" sz="2000" b="1" dirty="0">
                <a:solidFill>
                  <a:srgbClr val="0000CD"/>
                </a:solidFill>
              </a:rPr>
              <a:t>float</a:t>
            </a:r>
            <a:r>
              <a:rPr lang="en-US" sz="2000" b="1" dirty="0">
                <a:solidFill>
                  <a:srgbClr val="000000"/>
                </a:solidFill>
              </a:rPr>
              <a:t> x)</a:t>
            </a:r>
            <a:br>
              <a:rPr lang="en-US" sz="2000" b="1" dirty="0">
                <a:solidFill>
                  <a:srgbClr val="000000"/>
                </a:solidFill>
              </a:rPr>
            </a:br>
            <a:r>
              <a:rPr lang="en-US" sz="2000" b="1" dirty="0">
                <a:solidFill>
                  <a:srgbClr val="0000CD"/>
                </a:solidFill>
              </a:rPr>
              <a:t>double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 err="1">
                <a:solidFill>
                  <a:srgbClr val="000000"/>
                </a:solidFill>
              </a:rPr>
              <a:t>myFunction</a:t>
            </a:r>
            <a:r>
              <a:rPr lang="en-US" sz="2000" b="1" dirty="0">
                <a:solidFill>
                  <a:srgbClr val="000000"/>
                </a:solidFill>
              </a:rPr>
              <a:t>(</a:t>
            </a:r>
            <a:r>
              <a:rPr lang="en-US" sz="2000" b="1" dirty="0">
                <a:solidFill>
                  <a:srgbClr val="0000CD"/>
                </a:solidFill>
              </a:rPr>
              <a:t>double</a:t>
            </a:r>
            <a:r>
              <a:rPr lang="en-US" sz="2000" b="1" dirty="0">
                <a:solidFill>
                  <a:srgbClr val="000000"/>
                </a:solidFill>
              </a:rPr>
              <a:t> x, </a:t>
            </a:r>
            <a:r>
              <a:rPr lang="en-US" sz="2000" b="1" dirty="0">
                <a:solidFill>
                  <a:srgbClr val="0000CD"/>
                </a:solidFill>
              </a:rPr>
              <a:t>double</a:t>
            </a:r>
            <a:r>
              <a:rPr lang="en-US" sz="2000" b="1" dirty="0">
                <a:solidFill>
                  <a:srgbClr val="000000"/>
                </a:solidFill>
              </a:rPr>
              <a:t> y)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1206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4794380-83EB-4E34-84EA-15456AF030AB}"/>
              </a:ext>
            </a:extLst>
          </p:cNvPr>
          <p:cNvSpPr/>
          <p:nvPr/>
        </p:nvSpPr>
        <p:spPr>
          <a:xfrm>
            <a:off x="679175" y="1816418"/>
            <a:ext cx="5416825" cy="440120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</a:rPr>
              <a:t>// Return the max of two int values </a:t>
            </a:r>
            <a:endParaRPr lang="en-US" sz="2000" b="1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FF"/>
                </a:solidFill>
              </a:rPr>
              <a:t>int</a:t>
            </a:r>
            <a:r>
              <a:rPr lang="en-US" sz="2000" b="1" dirty="0">
                <a:solidFill>
                  <a:srgbClr val="000000"/>
                </a:solidFill>
              </a:rPr>
              <a:t> max(</a:t>
            </a:r>
            <a:r>
              <a:rPr lang="en-US" sz="2000" b="1" dirty="0">
                <a:solidFill>
                  <a:srgbClr val="0000FF"/>
                </a:solidFill>
              </a:rPr>
              <a:t>int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808080"/>
                </a:solidFill>
              </a:rPr>
              <a:t>num1</a:t>
            </a:r>
            <a:r>
              <a:rPr lang="en-US" sz="2000" b="1" dirty="0">
                <a:solidFill>
                  <a:srgbClr val="000000"/>
                </a:solidFill>
              </a:rPr>
              <a:t>, </a:t>
            </a:r>
            <a:r>
              <a:rPr lang="en-US" sz="2000" b="1" dirty="0">
                <a:solidFill>
                  <a:srgbClr val="0000FF"/>
                </a:solidFill>
              </a:rPr>
              <a:t>int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808080"/>
                </a:solidFill>
              </a:rPr>
              <a:t>num2</a:t>
            </a:r>
            <a:r>
              <a:rPr lang="en-US" sz="2000" b="1" dirty="0">
                <a:solidFill>
                  <a:srgbClr val="000000"/>
                </a:solidFill>
              </a:rPr>
              <a:t>) {</a:t>
            </a:r>
          </a:p>
          <a:p>
            <a:r>
              <a:rPr lang="en-US" sz="2000" b="1" dirty="0">
                <a:solidFill>
                  <a:srgbClr val="000000"/>
                </a:solidFill>
              </a:rPr>
              <a:t>  </a:t>
            </a:r>
            <a:r>
              <a:rPr lang="en-US" sz="2000" b="1" dirty="0">
                <a:solidFill>
                  <a:srgbClr val="0000FF"/>
                </a:solidFill>
              </a:rPr>
              <a:t>if</a:t>
            </a:r>
            <a:r>
              <a:rPr lang="en-US" sz="2000" b="1" dirty="0">
                <a:solidFill>
                  <a:srgbClr val="000000"/>
                </a:solidFill>
              </a:rPr>
              <a:t> (</a:t>
            </a:r>
            <a:r>
              <a:rPr lang="en-US" sz="2000" b="1" dirty="0">
                <a:solidFill>
                  <a:srgbClr val="808080"/>
                </a:solidFill>
              </a:rPr>
              <a:t>num1</a:t>
            </a:r>
            <a:r>
              <a:rPr lang="en-US" sz="2000" b="1" dirty="0">
                <a:solidFill>
                  <a:srgbClr val="000000"/>
                </a:solidFill>
              </a:rPr>
              <a:t> &gt; </a:t>
            </a:r>
            <a:r>
              <a:rPr lang="en-US" sz="2000" b="1" dirty="0">
                <a:solidFill>
                  <a:srgbClr val="808080"/>
                </a:solidFill>
              </a:rPr>
              <a:t>num2</a:t>
            </a:r>
            <a:r>
              <a:rPr lang="en-US" sz="2000" b="1" dirty="0">
                <a:solidFill>
                  <a:srgbClr val="000000"/>
                </a:solidFill>
              </a:rPr>
              <a:t>)</a:t>
            </a:r>
          </a:p>
          <a:p>
            <a:r>
              <a:rPr lang="en-US" sz="2000" b="1" dirty="0">
                <a:solidFill>
                  <a:srgbClr val="000000"/>
                </a:solidFill>
              </a:rPr>
              <a:t>    </a:t>
            </a:r>
            <a:r>
              <a:rPr lang="en-US" sz="2000" b="1" dirty="0">
                <a:solidFill>
                  <a:srgbClr val="0000FF"/>
                </a:solidFill>
              </a:rPr>
              <a:t>return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808080"/>
                </a:solidFill>
              </a:rPr>
              <a:t>num1</a:t>
            </a:r>
            <a:r>
              <a:rPr lang="en-US" sz="2000" b="1" dirty="0">
                <a:solidFill>
                  <a:srgbClr val="000000"/>
                </a:solidFill>
              </a:rPr>
              <a:t>;</a:t>
            </a:r>
          </a:p>
          <a:p>
            <a:r>
              <a:rPr lang="en-US" sz="2000" b="1" dirty="0">
                <a:solidFill>
                  <a:srgbClr val="000000"/>
                </a:solidFill>
              </a:rPr>
              <a:t>  </a:t>
            </a:r>
            <a:r>
              <a:rPr lang="en-US" sz="2000" b="1" dirty="0">
                <a:solidFill>
                  <a:srgbClr val="0000FF"/>
                </a:solidFill>
              </a:rPr>
              <a:t>else</a:t>
            </a:r>
            <a:endParaRPr lang="en-US" sz="2000" b="1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00"/>
                </a:solidFill>
              </a:rPr>
              <a:t>    </a:t>
            </a:r>
            <a:r>
              <a:rPr lang="en-US" sz="2000" b="1" dirty="0">
                <a:solidFill>
                  <a:srgbClr val="0000FF"/>
                </a:solidFill>
              </a:rPr>
              <a:t>return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808080"/>
                </a:solidFill>
              </a:rPr>
              <a:t>num2</a:t>
            </a:r>
            <a:r>
              <a:rPr lang="en-US" sz="2000" b="1" dirty="0">
                <a:solidFill>
                  <a:srgbClr val="000000"/>
                </a:solidFill>
              </a:rPr>
              <a:t>;</a:t>
            </a:r>
          </a:p>
          <a:p>
            <a:r>
              <a:rPr lang="en-US" sz="2000" b="1" dirty="0">
                <a:solidFill>
                  <a:srgbClr val="000000"/>
                </a:solidFill>
              </a:rPr>
              <a:t>}</a:t>
            </a:r>
          </a:p>
          <a:p>
            <a:r>
              <a:rPr lang="en-US" sz="2000" b="1" dirty="0">
                <a:solidFill>
                  <a:srgbClr val="008000"/>
                </a:solidFill>
              </a:rPr>
              <a:t>// Find the max of two double values </a:t>
            </a:r>
            <a:endParaRPr lang="en-US" sz="2000" b="1" dirty="0">
              <a:solidFill>
                <a:srgbClr val="000000"/>
              </a:solidFill>
            </a:endParaRPr>
          </a:p>
          <a:p>
            <a:r>
              <a:rPr lang="fr-FR" sz="2000" b="1" dirty="0">
                <a:solidFill>
                  <a:srgbClr val="0000FF"/>
                </a:solidFill>
              </a:rPr>
              <a:t>double</a:t>
            </a:r>
            <a:r>
              <a:rPr lang="fr-FR" sz="2000" b="1" dirty="0">
                <a:solidFill>
                  <a:srgbClr val="000000"/>
                </a:solidFill>
              </a:rPr>
              <a:t> max(</a:t>
            </a:r>
            <a:r>
              <a:rPr lang="fr-FR" sz="2000" b="1" dirty="0">
                <a:solidFill>
                  <a:srgbClr val="0000FF"/>
                </a:solidFill>
              </a:rPr>
              <a:t>double</a:t>
            </a:r>
            <a:r>
              <a:rPr lang="fr-FR" sz="2000" b="1" dirty="0">
                <a:solidFill>
                  <a:srgbClr val="000000"/>
                </a:solidFill>
              </a:rPr>
              <a:t> </a:t>
            </a:r>
            <a:r>
              <a:rPr lang="fr-FR" sz="2000" b="1" dirty="0">
                <a:solidFill>
                  <a:srgbClr val="808080"/>
                </a:solidFill>
              </a:rPr>
              <a:t>num1</a:t>
            </a:r>
            <a:r>
              <a:rPr lang="fr-FR" sz="2000" b="1" dirty="0">
                <a:solidFill>
                  <a:srgbClr val="000000"/>
                </a:solidFill>
              </a:rPr>
              <a:t>, </a:t>
            </a:r>
            <a:r>
              <a:rPr lang="fr-FR" sz="2000" b="1" dirty="0">
                <a:solidFill>
                  <a:srgbClr val="0000FF"/>
                </a:solidFill>
              </a:rPr>
              <a:t>double</a:t>
            </a:r>
            <a:r>
              <a:rPr lang="fr-FR" sz="2000" b="1" dirty="0">
                <a:solidFill>
                  <a:srgbClr val="000000"/>
                </a:solidFill>
              </a:rPr>
              <a:t> </a:t>
            </a:r>
            <a:r>
              <a:rPr lang="fr-FR" sz="2000" b="1" dirty="0">
                <a:solidFill>
                  <a:srgbClr val="808080"/>
                </a:solidFill>
              </a:rPr>
              <a:t>num2</a:t>
            </a:r>
            <a:r>
              <a:rPr lang="fr-FR" sz="2000" b="1" dirty="0">
                <a:solidFill>
                  <a:srgbClr val="000000"/>
                </a:solidFill>
              </a:rPr>
              <a:t>) </a:t>
            </a:r>
            <a:r>
              <a:rPr lang="en-US" sz="2000" b="1" dirty="0">
                <a:solidFill>
                  <a:srgbClr val="000000"/>
                </a:solidFill>
              </a:rPr>
              <a:t>{</a:t>
            </a:r>
          </a:p>
          <a:p>
            <a:r>
              <a:rPr lang="en-US" sz="2000" b="1" dirty="0">
                <a:solidFill>
                  <a:srgbClr val="000000"/>
                </a:solidFill>
              </a:rPr>
              <a:t>  </a:t>
            </a:r>
            <a:r>
              <a:rPr lang="en-US" sz="2000" b="1" dirty="0">
                <a:solidFill>
                  <a:srgbClr val="0000FF"/>
                </a:solidFill>
              </a:rPr>
              <a:t>if</a:t>
            </a:r>
            <a:r>
              <a:rPr lang="en-US" sz="2000" b="1" dirty="0">
                <a:solidFill>
                  <a:srgbClr val="000000"/>
                </a:solidFill>
              </a:rPr>
              <a:t> (</a:t>
            </a:r>
            <a:r>
              <a:rPr lang="en-US" sz="2000" b="1" dirty="0">
                <a:solidFill>
                  <a:srgbClr val="808080"/>
                </a:solidFill>
              </a:rPr>
              <a:t>num1</a:t>
            </a:r>
            <a:r>
              <a:rPr lang="en-US" sz="2000" b="1" dirty="0">
                <a:solidFill>
                  <a:srgbClr val="000000"/>
                </a:solidFill>
              </a:rPr>
              <a:t> &gt; </a:t>
            </a:r>
            <a:r>
              <a:rPr lang="en-US" sz="2000" b="1" dirty="0">
                <a:solidFill>
                  <a:srgbClr val="808080"/>
                </a:solidFill>
              </a:rPr>
              <a:t>num2</a:t>
            </a:r>
            <a:r>
              <a:rPr lang="en-US" sz="2000" b="1" dirty="0">
                <a:solidFill>
                  <a:srgbClr val="000000"/>
                </a:solidFill>
              </a:rPr>
              <a:t>)</a:t>
            </a:r>
          </a:p>
          <a:p>
            <a:r>
              <a:rPr lang="en-US" sz="2000" b="1" dirty="0">
                <a:solidFill>
                  <a:srgbClr val="000000"/>
                </a:solidFill>
              </a:rPr>
              <a:t>    </a:t>
            </a:r>
            <a:r>
              <a:rPr lang="en-US" sz="2000" b="1" dirty="0">
                <a:solidFill>
                  <a:srgbClr val="0000FF"/>
                </a:solidFill>
              </a:rPr>
              <a:t>return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808080"/>
                </a:solidFill>
              </a:rPr>
              <a:t>num1</a:t>
            </a:r>
            <a:r>
              <a:rPr lang="en-US" sz="2000" b="1" dirty="0">
                <a:solidFill>
                  <a:srgbClr val="000000"/>
                </a:solidFill>
              </a:rPr>
              <a:t>;</a:t>
            </a:r>
          </a:p>
          <a:p>
            <a:r>
              <a:rPr lang="en-US" sz="2000" b="1" dirty="0">
                <a:solidFill>
                  <a:srgbClr val="000000"/>
                </a:solidFill>
              </a:rPr>
              <a:t>  </a:t>
            </a:r>
            <a:r>
              <a:rPr lang="en-US" sz="2000" b="1" dirty="0">
                <a:solidFill>
                  <a:srgbClr val="0000FF"/>
                </a:solidFill>
              </a:rPr>
              <a:t>else</a:t>
            </a:r>
            <a:endParaRPr lang="en-US" sz="2000" b="1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00"/>
                </a:solidFill>
              </a:rPr>
              <a:t>    </a:t>
            </a:r>
            <a:r>
              <a:rPr lang="en-US" sz="2000" b="1" dirty="0">
                <a:solidFill>
                  <a:srgbClr val="0000FF"/>
                </a:solidFill>
              </a:rPr>
              <a:t>return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808080"/>
                </a:solidFill>
              </a:rPr>
              <a:t>num2</a:t>
            </a:r>
            <a:r>
              <a:rPr lang="en-US" sz="2000" b="1" dirty="0">
                <a:solidFill>
                  <a:srgbClr val="000000"/>
                </a:solidFill>
              </a:rPr>
              <a:t>;</a:t>
            </a:r>
          </a:p>
          <a:p>
            <a:r>
              <a:rPr lang="en-US" sz="2000" b="1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E7834-510C-354C-7DE0-51A6C87650C8}"/>
              </a:ext>
            </a:extLst>
          </p:cNvPr>
          <p:cNvSpPr txBox="1"/>
          <p:nvPr/>
        </p:nvSpPr>
        <p:spPr>
          <a:xfrm>
            <a:off x="569795" y="740780"/>
            <a:ext cx="67685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/>
              <a:t>The </a:t>
            </a:r>
            <a:r>
              <a:rPr lang="en-US" altLang="en-US" sz="2400" b="1" u="sng" dirty="0">
                <a:solidFill>
                  <a:srgbClr val="0070C0"/>
                </a:solidFill>
              </a:rPr>
              <a:t>max</a:t>
            </a:r>
            <a:r>
              <a:rPr lang="en-US" altLang="en-US" sz="2400" dirty="0"/>
              <a:t> function works for </a:t>
            </a:r>
            <a:r>
              <a:rPr lang="en-US" altLang="en-US" sz="2400" b="1" u="sng" dirty="0">
                <a:solidFill>
                  <a:srgbClr val="0070C0"/>
                </a:solidFill>
              </a:rPr>
              <a:t>int</a:t>
            </a:r>
            <a:r>
              <a:rPr lang="en-US" altLang="en-US" sz="2400" dirty="0"/>
              <a:t> data type.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/>
              <a:t>What if you also need </a:t>
            </a:r>
            <a:r>
              <a:rPr lang="en-US" altLang="en-US" sz="2400" b="1" dirty="0">
                <a:solidFill>
                  <a:srgbClr val="0070C0"/>
                </a:solidFill>
              </a:rPr>
              <a:t>double</a:t>
            </a:r>
            <a:r>
              <a:rPr lang="en-US" altLang="en-US" sz="2400" dirty="0"/>
              <a:t> numbers?</a:t>
            </a:r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9AF78C-BA60-B7B4-5F64-C260FCE6DE8C}"/>
              </a:ext>
            </a:extLst>
          </p:cNvPr>
          <p:cNvSpPr txBox="1">
            <a:spLocks noChangeArrowheads="1"/>
          </p:cNvSpPr>
          <p:nvPr/>
        </p:nvSpPr>
        <p:spPr>
          <a:xfrm>
            <a:off x="2448560" y="-101600"/>
            <a:ext cx="7772400" cy="615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en-US" b="1">
                <a:solidFill>
                  <a:srgbClr val="C00000"/>
                </a:solidFill>
                <a:sym typeface="Arial"/>
              </a:rPr>
              <a:t>Overloading Functions</a:t>
            </a:r>
            <a:endParaRPr lang="en-US" altLang="en-US" b="1" dirty="0">
              <a:solidFill>
                <a:srgbClr val="C00000"/>
              </a:solidFill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491887-2F07-EA78-87A1-F2F034F5AE48}"/>
              </a:ext>
            </a:extLst>
          </p:cNvPr>
          <p:cNvSpPr/>
          <p:nvPr/>
        </p:nvSpPr>
        <p:spPr>
          <a:xfrm>
            <a:off x="6315923" y="1816418"/>
            <a:ext cx="5602147" cy="440120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</a:rPr>
              <a:t>int</a:t>
            </a:r>
            <a:r>
              <a:rPr lang="en-US" sz="2000" b="1" dirty="0">
                <a:solidFill>
                  <a:srgbClr val="000000"/>
                </a:solidFill>
              </a:rPr>
              <a:t> main()</a:t>
            </a:r>
          </a:p>
          <a:p>
            <a:r>
              <a:rPr lang="en-US" sz="2000" b="1" dirty="0">
                <a:solidFill>
                  <a:srgbClr val="000000"/>
                </a:solidFill>
              </a:rPr>
              <a:t>{</a:t>
            </a:r>
          </a:p>
          <a:p>
            <a:r>
              <a:rPr lang="en-US" sz="2000" b="1" dirty="0">
                <a:solidFill>
                  <a:srgbClr val="000000"/>
                </a:solidFill>
              </a:rPr>
              <a:t>  </a:t>
            </a:r>
            <a:r>
              <a:rPr lang="en-US" sz="2000" b="1" dirty="0">
                <a:solidFill>
                  <a:srgbClr val="008000"/>
                </a:solidFill>
              </a:rPr>
              <a:t>// call the max with </a:t>
            </a:r>
            <a:r>
              <a:rPr lang="en-US" sz="2000" b="1" dirty="0">
                <a:solidFill>
                  <a:srgbClr val="0070C0"/>
                </a:solidFill>
              </a:rPr>
              <a:t>int</a:t>
            </a:r>
            <a:r>
              <a:rPr lang="en-US" sz="2000" b="1" dirty="0">
                <a:solidFill>
                  <a:srgbClr val="008000"/>
                </a:solidFill>
              </a:rPr>
              <a:t> parameters</a:t>
            </a:r>
          </a:p>
          <a:p>
            <a:endParaRPr lang="en-US" sz="2000" b="1" dirty="0">
              <a:solidFill>
                <a:srgbClr val="008000"/>
              </a:solidFill>
            </a:endParaRPr>
          </a:p>
          <a:p>
            <a:r>
              <a:rPr lang="en-US" sz="2000" b="1" dirty="0">
                <a:solidFill>
                  <a:srgbClr val="000000"/>
                </a:solidFill>
              </a:rPr>
              <a:t>  cout </a:t>
            </a:r>
            <a:r>
              <a:rPr lang="en-US" sz="2000" b="1" dirty="0">
                <a:solidFill>
                  <a:srgbClr val="008080"/>
                </a:solidFill>
              </a:rPr>
              <a:t>&lt;&lt;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A31515"/>
                </a:solidFill>
              </a:rPr>
              <a:t>"The maximum of 3 and 4 is "</a:t>
            </a:r>
          </a:p>
          <a:p>
            <a:r>
              <a:rPr lang="en-US" sz="2000" b="1" dirty="0">
                <a:solidFill>
                  <a:srgbClr val="000000"/>
                </a:solidFill>
              </a:rPr>
              <a:t>    </a:t>
            </a:r>
            <a:r>
              <a:rPr lang="en-US" sz="2000" b="1" dirty="0">
                <a:solidFill>
                  <a:srgbClr val="008080"/>
                </a:solidFill>
              </a:rPr>
              <a:t>&lt;&lt;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u="sng" dirty="0">
                <a:solidFill>
                  <a:srgbClr val="0070C0"/>
                </a:solidFill>
              </a:rPr>
              <a:t>max(3, 4) </a:t>
            </a:r>
            <a:r>
              <a:rPr lang="en-US" sz="2000" b="1" dirty="0">
                <a:solidFill>
                  <a:srgbClr val="008080"/>
                </a:solidFill>
              </a:rPr>
              <a:t>&lt;&lt;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 err="1">
                <a:solidFill>
                  <a:srgbClr val="000000"/>
                </a:solidFill>
              </a:rPr>
              <a:t>endl</a:t>
            </a:r>
            <a:r>
              <a:rPr lang="en-US" sz="2000" b="1" dirty="0">
                <a:solidFill>
                  <a:srgbClr val="000000"/>
                </a:solidFill>
              </a:rPr>
              <a:t>;</a:t>
            </a:r>
          </a:p>
          <a:p>
            <a:endParaRPr lang="en-US" sz="2000" b="1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00"/>
                </a:solidFill>
              </a:rPr>
              <a:t>  </a:t>
            </a:r>
            <a:r>
              <a:rPr lang="en-US" sz="2000" b="1" dirty="0">
                <a:solidFill>
                  <a:srgbClr val="008000"/>
                </a:solidFill>
              </a:rPr>
              <a:t>// call the max with the </a:t>
            </a:r>
            <a:r>
              <a:rPr lang="en-US" sz="2000" b="1" dirty="0">
                <a:solidFill>
                  <a:srgbClr val="0070C0"/>
                </a:solidFill>
              </a:rPr>
              <a:t>double</a:t>
            </a:r>
            <a:r>
              <a:rPr lang="en-US" sz="2000" b="1" dirty="0">
                <a:solidFill>
                  <a:srgbClr val="008000"/>
                </a:solidFill>
              </a:rPr>
              <a:t> parameters</a:t>
            </a:r>
          </a:p>
          <a:p>
            <a:endParaRPr lang="en-US" sz="2000" b="1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00"/>
                </a:solidFill>
              </a:rPr>
              <a:t>  cout </a:t>
            </a:r>
            <a:r>
              <a:rPr lang="en-US" sz="2000" b="1" dirty="0">
                <a:solidFill>
                  <a:srgbClr val="008080"/>
                </a:solidFill>
              </a:rPr>
              <a:t>&lt;&lt;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A31515"/>
                </a:solidFill>
              </a:rPr>
              <a:t>"The maximum of 3.0 and 5.4 is "</a:t>
            </a:r>
            <a:endParaRPr lang="en-US" sz="2000" b="1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00"/>
                </a:solidFill>
              </a:rPr>
              <a:t>    </a:t>
            </a:r>
            <a:r>
              <a:rPr lang="en-US" sz="2000" b="1" dirty="0">
                <a:solidFill>
                  <a:srgbClr val="008080"/>
                </a:solidFill>
              </a:rPr>
              <a:t>&lt;&lt;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u="sng" dirty="0">
                <a:solidFill>
                  <a:srgbClr val="0070C0"/>
                </a:solidFill>
              </a:rPr>
              <a:t>max(3.0, 5.4) </a:t>
            </a:r>
            <a:r>
              <a:rPr lang="en-US" sz="2000" b="1" dirty="0">
                <a:solidFill>
                  <a:srgbClr val="008080"/>
                </a:solidFill>
              </a:rPr>
              <a:t>&lt;&lt;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 err="1">
                <a:solidFill>
                  <a:srgbClr val="000000"/>
                </a:solidFill>
              </a:rPr>
              <a:t>endl</a:t>
            </a:r>
            <a:r>
              <a:rPr lang="en-US" sz="2000" b="1" dirty="0">
                <a:solidFill>
                  <a:srgbClr val="000000"/>
                </a:solidFill>
              </a:rPr>
              <a:t>;</a:t>
            </a:r>
          </a:p>
          <a:p>
            <a:endParaRPr lang="en-US" sz="2000" b="1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00"/>
                </a:solidFill>
              </a:rPr>
              <a:t>  </a:t>
            </a:r>
            <a:r>
              <a:rPr lang="en-US" sz="2000" b="1" dirty="0">
                <a:solidFill>
                  <a:srgbClr val="0000FF"/>
                </a:solidFill>
              </a:rPr>
              <a:t>return</a:t>
            </a:r>
            <a:r>
              <a:rPr lang="en-US" sz="2000" b="1" dirty="0">
                <a:solidFill>
                  <a:srgbClr val="000000"/>
                </a:solidFill>
              </a:rPr>
              <a:t> 0;</a:t>
            </a:r>
          </a:p>
          <a:p>
            <a:r>
              <a:rPr lang="en-US" sz="2000" b="1" dirty="0">
                <a:solidFill>
                  <a:srgbClr val="000000"/>
                </a:solidFill>
              </a:rPr>
              <a:t>}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73316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2EBF1761-5E6C-4D93-9ED5-B0CBAFBB532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718560" y="-69276"/>
            <a:ext cx="7772400" cy="533400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C00000"/>
                </a:solidFill>
                <a:sym typeface="Arial"/>
              </a:rPr>
              <a:t>Ambiguous Invocation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2E12B3-1388-40B6-A667-D4EBCE2F370E}"/>
              </a:ext>
            </a:extLst>
          </p:cNvPr>
          <p:cNvSpPr/>
          <p:nvPr/>
        </p:nvSpPr>
        <p:spPr>
          <a:xfrm>
            <a:off x="1948261" y="789902"/>
            <a:ext cx="5644732" cy="563231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int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 err="1">
                <a:solidFill>
                  <a:srgbClr val="000000"/>
                </a:solidFill>
              </a:rPr>
              <a:t>maxNumber</a:t>
            </a:r>
            <a:r>
              <a:rPr lang="en-US" b="1" dirty="0">
                <a:solidFill>
                  <a:srgbClr val="000000"/>
                </a:solidFill>
              </a:rPr>
              <a:t>(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</a:rPr>
              <a:t>int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>
                <a:solidFill>
                  <a:srgbClr val="808080"/>
                </a:solidFill>
              </a:rPr>
              <a:t>num1</a:t>
            </a:r>
            <a:r>
              <a:rPr lang="en-US" b="1" dirty="0">
                <a:solidFill>
                  <a:srgbClr val="000000"/>
                </a:solidFill>
              </a:rPr>
              <a:t>, </a:t>
            </a:r>
            <a:r>
              <a:rPr lang="en-US" b="1" dirty="0">
                <a:solidFill>
                  <a:srgbClr val="0000FF"/>
                </a:solidFill>
                <a:highlight>
                  <a:srgbClr val="00FFFF"/>
                </a:highlight>
              </a:rPr>
              <a:t>double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>
                <a:solidFill>
                  <a:srgbClr val="808080"/>
                </a:solidFill>
              </a:rPr>
              <a:t>num2</a:t>
            </a:r>
            <a:r>
              <a:rPr lang="en-US" b="1" dirty="0">
                <a:solidFill>
                  <a:srgbClr val="000000"/>
                </a:solidFill>
              </a:rPr>
              <a:t>)</a:t>
            </a:r>
          </a:p>
          <a:p>
            <a:r>
              <a:rPr lang="en-US" b="1" dirty="0">
                <a:solidFill>
                  <a:srgbClr val="000000"/>
                </a:solidFill>
              </a:rPr>
              <a:t>{</a:t>
            </a:r>
          </a:p>
          <a:p>
            <a:pPr marL="341313"/>
            <a:r>
              <a:rPr lang="en-US" b="1" dirty="0">
                <a:solidFill>
                  <a:srgbClr val="0000FF"/>
                </a:solidFill>
              </a:rPr>
              <a:t>if</a:t>
            </a:r>
            <a:r>
              <a:rPr lang="en-US" b="1" dirty="0">
                <a:solidFill>
                  <a:srgbClr val="000000"/>
                </a:solidFill>
              </a:rPr>
              <a:t> (</a:t>
            </a:r>
            <a:r>
              <a:rPr lang="en-US" b="1" dirty="0">
                <a:solidFill>
                  <a:srgbClr val="808080"/>
                </a:solidFill>
              </a:rPr>
              <a:t>num1</a:t>
            </a:r>
            <a:r>
              <a:rPr lang="en-US" b="1" dirty="0">
                <a:solidFill>
                  <a:srgbClr val="000000"/>
                </a:solidFill>
              </a:rPr>
              <a:t> &gt; </a:t>
            </a:r>
            <a:r>
              <a:rPr lang="en-US" b="1" dirty="0">
                <a:solidFill>
                  <a:srgbClr val="808080"/>
                </a:solidFill>
              </a:rPr>
              <a:t>num2</a:t>
            </a:r>
            <a:r>
              <a:rPr lang="en-US" b="1" dirty="0">
                <a:solidFill>
                  <a:srgbClr val="000000"/>
                </a:solidFill>
              </a:rPr>
              <a:t>)</a:t>
            </a:r>
          </a:p>
          <a:p>
            <a:pPr marL="628650"/>
            <a:r>
              <a:rPr lang="en-US" b="1" dirty="0">
                <a:solidFill>
                  <a:srgbClr val="0000FF"/>
                </a:solidFill>
              </a:rPr>
              <a:t>return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>
                <a:solidFill>
                  <a:srgbClr val="808080"/>
                </a:solidFill>
              </a:rPr>
              <a:t>num1</a:t>
            </a:r>
            <a:r>
              <a:rPr lang="en-US" b="1" dirty="0">
                <a:solidFill>
                  <a:srgbClr val="000000"/>
                </a:solidFill>
              </a:rPr>
              <a:t>;</a:t>
            </a:r>
          </a:p>
          <a:p>
            <a:pPr marL="341313"/>
            <a:r>
              <a:rPr lang="en-US" b="1" dirty="0">
                <a:solidFill>
                  <a:srgbClr val="0000FF"/>
                </a:solidFill>
              </a:rPr>
              <a:t>else</a:t>
            </a:r>
            <a:endParaRPr lang="en-US" b="1" dirty="0">
              <a:solidFill>
                <a:srgbClr val="000000"/>
              </a:solidFill>
            </a:endParaRPr>
          </a:p>
          <a:p>
            <a:pPr marL="628650"/>
            <a:r>
              <a:rPr lang="en-US" b="1" dirty="0">
                <a:solidFill>
                  <a:srgbClr val="0000FF"/>
                </a:solidFill>
              </a:rPr>
              <a:t>return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>
                <a:solidFill>
                  <a:srgbClr val="808080"/>
                </a:solidFill>
              </a:rPr>
              <a:t>num2</a:t>
            </a:r>
            <a:r>
              <a:rPr lang="en-US" b="1" dirty="0">
                <a:solidFill>
                  <a:srgbClr val="000000"/>
                </a:solidFill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</a:rPr>
              <a:t>}</a:t>
            </a:r>
          </a:p>
          <a:p>
            <a:r>
              <a:rPr lang="en-US" b="1" dirty="0">
                <a:solidFill>
                  <a:srgbClr val="0000FF"/>
                </a:solidFill>
              </a:rPr>
              <a:t>double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 err="1">
                <a:solidFill>
                  <a:srgbClr val="000000"/>
                </a:solidFill>
              </a:rPr>
              <a:t>maxNumber</a:t>
            </a:r>
            <a:r>
              <a:rPr lang="en-US" b="1" dirty="0">
                <a:solidFill>
                  <a:srgbClr val="000000"/>
                </a:solidFill>
              </a:rPr>
              <a:t>(</a:t>
            </a:r>
            <a:r>
              <a:rPr lang="en-US" b="1" dirty="0">
                <a:solidFill>
                  <a:srgbClr val="0000FF"/>
                </a:solidFill>
                <a:highlight>
                  <a:srgbClr val="00FFFF"/>
                </a:highlight>
              </a:rPr>
              <a:t>double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>
                <a:solidFill>
                  <a:srgbClr val="808080"/>
                </a:solidFill>
              </a:rPr>
              <a:t>num1</a:t>
            </a:r>
            <a:r>
              <a:rPr lang="en-US" b="1" dirty="0">
                <a:solidFill>
                  <a:srgbClr val="000000"/>
                </a:solidFill>
              </a:rPr>
              <a:t>, 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</a:rPr>
              <a:t>int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>
                <a:solidFill>
                  <a:srgbClr val="808080"/>
                </a:solidFill>
              </a:rPr>
              <a:t>num2</a:t>
            </a:r>
            <a:r>
              <a:rPr lang="en-US" b="1" dirty="0">
                <a:solidFill>
                  <a:srgbClr val="000000"/>
                </a:solidFill>
              </a:rPr>
              <a:t>)</a:t>
            </a:r>
          </a:p>
          <a:p>
            <a:r>
              <a:rPr lang="en-US" b="1" dirty="0">
                <a:solidFill>
                  <a:srgbClr val="000000"/>
                </a:solidFill>
              </a:rPr>
              <a:t>{</a:t>
            </a:r>
          </a:p>
          <a:p>
            <a:pPr marL="341313"/>
            <a:r>
              <a:rPr lang="en-US" b="1" dirty="0">
                <a:solidFill>
                  <a:srgbClr val="0000FF"/>
                </a:solidFill>
              </a:rPr>
              <a:t>if</a:t>
            </a:r>
            <a:r>
              <a:rPr lang="en-US" b="1" dirty="0">
                <a:solidFill>
                  <a:srgbClr val="000000"/>
                </a:solidFill>
              </a:rPr>
              <a:t> (</a:t>
            </a:r>
            <a:r>
              <a:rPr lang="en-US" b="1" dirty="0">
                <a:solidFill>
                  <a:srgbClr val="808080"/>
                </a:solidFill>
              </a:rPr>
              <a:t>num1</a:t>
            </a:r>
            <a:r>
              <a:rPr lang="en-US" b="1" dirty="0">
                <a:solidFill>
                  <a:srgbClr val="000000"/>
                </a:solidFill>
              </a:rPr>
              <a:t> &gt; </a:t>
            </a:r>
            <a:r>
              <a:rPr lang="en-US" b="1" dirty="0">
                <a:solidFill>
                  <a:srgbClr val="808080"/>
                </a:solidFill>
              </a:rPr>
              <a:t>num2</a:t>
            </a:r>
            <a:r>
              <a:rPr lang="en-US" b="1" dirty="0">
                <a:solidFill>
                  <a:srgbClr val="000000"/>
                </a:solidFill>
              </a:rPr>
              <a:t>)</a:t>
            </a:r>
          </a:p>
          <a:p>
            <a:pPr marL="628650"/>
            <a:r>
              <a:rPr lang="en-US" b="1" dirty="0">
                <a:solidFill>
                  <a:srgbClr val="0000FF"/>
                </a:solidFill>
              </a:rPr>
              <a:t>return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>
                <a:solidFill>
                  <a:srgbClr val="808080"/>
                </a:solidFill>
              </a:rPr>
              <a:t>num1</a:t>
            </a:r>
            <a:r>
              <a:rPr lang="en-US" b="1" dirty="0">
                <a:solidFill>
                  <a:srgbClr val="000000"/>
                </a:solidFill>
              </a:rPr>
              <a:t>;</a:t>
            </a:r>
          </a:p>
          <a:p>
            <a:pPr marL="341313"/>
            <a:r>
              <a:rPr lang="en-US" b="1" dirty="0">
                <a:solidFill>
                  <a:srgbClr val="0000FF"/>
                </a:solidFill>
              </a:rPr>
              <a:t>else</a:t>
            </a:r>
            <a:endParaRPr lang="en-US" b="1" dirty="0">
              <a:solidFill>
                <a:srgbClr val="000000"/>
              </a:solidFill>
            </a:endParaRPr>
          </a:p>
          <a:p>
            <a:pPr marL="628650"/>
            <a:r>
              <a:rPr lang="en-US" b="1" dirty="0">
                <a:solidFill>
                  <a:srgbClr val="0000FF"/>
                </a:solidFill>
              </a:rPr>
              <a:t>return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>
                <a:solidFill>
                  <a:srgbClr val="808080"/>
                </a:solidFill>
              </a:rPr>
              <a:t>num2</a:t>
            </a:r>
            <a:r>
              <a:rPr lang="en-US" b="1" dirty="0">
                <a:solidFill>
                  <a:srgbClr val="000000"/>
                </a:solidFill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</a:rPr>
              <a:t>}</a:t>
            </a:r>
          </a:p>
          <a:p>
            <a:r>
              <a:rPr lang="en-US" b="1" dirty="0">
                <a:solidFill>
                  <a:srgbClr val="0000FF"/>
                </a:solidFill>
              </a:rPr>
              <a:t>int</a:t>
            </a:r>
            <a:r>
              <a:rPr lang="en-US" b="1" dirty="0">
                <a:solidFill>
                  <a:srgbClr val="000000"/>
                </a:solidFill>
              </a:rPr>
              <a:t> main()</a:t>
            </a:r>
          </a:p>
          <a:p>
            <a:r>
              <a:rPr lang="en-US" b="1" dirty="0">
                <a:solidFill>
                  <a:srgbClr val="000000"/>
                </a:solidFill>
              </a:rPr>
              <a:t>{</a:t>
            </a:r>
          </a:p>
          <a:p>
            <a:pPr marL="341313"/>
            <a:r>
              <a:rPr lang="en-US" b="1" dirty="0">
                <a:solidFill>
                  <a:srgbClr val="000000"/>
                </a:solidFill>
                <a:highlight>
                  <a:srgbClr val="00FF00"/>
                </a:highlight>
              </a:rPr>
              <a:t>cout &lt;&lt; </a:t>
            </a:r>
            <a:r>
              <a:rPr lang="en-US" b="1" dirty="0" err="1">
                <a:solidFill>
                  <a:srgbClr val="000000"/>
                </a:solidFill>
                <a:highlight>
                  <a:srgbClr val="00FF00"/>
                </a:highlight>
              </a:rPr>
              <a:t>maxNumber</a:t>
            </a:r>
            <a:r>
              <a:rPr lang="en-US" b="1" dirty="0">
                <a:solidFill>
                  <a:srgbClr val="000000"/>
                </a:solidFill>
                <a:highlight>
                  <a:srgbClr val="00FF00"/>
                </a:highlight>
              </a:rPr>
              <a:t>(1, 2) &lt;&lt; endl;</a:t>
            </a:r>
          </a:p>
          <a:p>
            <a:pPr marL="341313"/>
            <a:r>
              <a:rPr lang="en-US" b="1" dirty="0">
                <a:solidFill>
                  <a:srgbClr val="0000FF"/>
                </a:solidFill>
              </a:rPr>
              <a:t>return</a:t>
            </a:r>
            <a:r>
              <a:rPr lang="en-US" b="1" dirty="0">
                <a:solidFill>
                  <a:srgbClr val="000000"/>
                </a:solidFill>
              </a:rPr>
              <a:t> 0;</a:t>
            </a:r>
          </a:p>
          <a:p>
            <a:r>
              <a:rPr lang="en-US" b="1" dirty="0">
                <a:solidFill>
                  <a:srgbClr val="000000"/>
                </a:solidFill>
              </a:rPr>
              <a:t>}</a:t>
            </a:r>
          </a:p>
          <a:p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869F43-FE49-404C-A503-A8A47928C3DA}"/>
              </a:ext>
            </a:extLst>
          </p:cNvPr>
          <p:cNvSpPr/>
          <p:nvPr/>
        </p:nvSpPr>
        <p:spPr>
          <a:xfrm>
            <a:off x="6724611" y="4502379"/>
            <a:ext cx="4572000" cy="369332"/>
          </a:xfrm>
          <a:prstGeom prst="rect">
            <a:avLst/>
          </a:prstGeom>
          <a:solidFill>
            <a:srgbClr val="FFC000"/>
          </a:solidFill>
        </p:spPr>
        <p:txBody>
          <a:bodyPr>
            <a:spAutoFit/>
          </a:bodyPr>
          <a:lstStyle/>
          <a:p>
            <a:r>
              <a:rPr lang="en-US" altLang="en-US" dirty="0">
                <a:cs typeface="Times New Roman" panose="02020603050405020304" pitchFamily="18" charset="0"/>
              </a:rPr>
              <a:t>Ambiguous invocation is a compilation error. 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DC91A89-B43A-40B3-910E-968C2568253E}"/>
              </a:ext>
            </a:extLst>
          </p:cNvPr>
          <p:cNvGrpSpPr/>
          <p:nvPr/>
        </p:nvGrpSpPr>
        <p:grpSpPr>
          <a:xfrm>
            <a:off x="6518455" y="5197489"/>
            <a:ext cx="378246" cy="378246"/>
            <a:chOff x="5717754" y="2409021"/>
            <a:chExt cx="378246" cy="378246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012534A-F14C-44C9-BE85-42457F5FBC7D}"/>
                </a:ext>
              </a:extLst>
            </p:cNvPr>
            <p:cNvSpPr/>
            <p:nvPr/>
          </p:nvSpPr>
          <p:spPr>
            <a:xfrm>
              <a:off x="5717754" y="2409021"/>
              <a:ext cx="378246" cy="37824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BF96C9C-9576-4ED1-951F-BDCBDA02B43D}"/>
                </a:ext>
              </a:extLst>
            </p:cNvPr>
            <p:cNvCxnSpPr>
              <a:cxnSpLocks/>
              <a:stCxn id="7" idx="1"/>
              <a:endCxn id="7" idx="5"/>
            </p:cNvCxnSpPr>
            <p:nvPr/>
          </p:nvCxnSpPr>
          <p:spPr>
            <a:xfrm>
              <a:off x="5773147" y="2464414"/>
              <a:ext cx="267460" cy="267460"/>
            </a:xfrm>
            <a:prstGeom prst="line">
              <a:avLst/>
            </a:prstGeom>
            <a:ln w="508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CA47A7D-013C-4D69-80F0-8946132CD20B}"/>
                </a:ext>
              </a:extLst>
            </p:cNvPr>
            <p:cNvCxnSpPr>
              <a:cxnSpLocks/>
              <a:stCxn id="7" idx="7"/>
              <a:endCxn id="7" idx="3"/>
            </p:cNvCxnSpPr>
            <p:nvPr/>
          </p:nvCxnSpPr>
          <p:spPr>
            <a:xfrm flipH="1">
              <a:off x="5773147" y="2464414"/>
              <a:ext cx="267460" cy="267460"/>
            </a:xfrm>
            <a:prstGeom prst="line">
              <a:avLst/>
            </a:prstGeom>
            <a:ln w="508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758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08EB7BEA-3BB4-43D2-9DDA-E7C63BE32A9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099560" y="-93374"/>
            <a:ext cx="3992880" cy="611188"/>
          </a:xfrm>
        </p:spPr>
        <p:txBody>
          <a:bodyPr>
            <a:noAutofit/>
          </a:bodyPr>
          <a:lstStyle/>
          <a:p>
            <a:pPr algn="ctr"/>
            <a:r>
              <a:rPr lang="en-US" altLang="en-US" b="1" dirty="0">
                <a:solidFill>
                  <a:srgbClr val="C00000"/>
                </a:solidFill>
                <a:sym typeface="Arial"/>
              </a:rPr>
              <a:t>Pass by Value</a:t>
            </a:r>
          </a:p>
        </p:txBody>
      </p:sp>
      <p:sp>
        <p:nvSpPr>
          <p:cNvPr id="53252" name="Text Box 3">
            <a:extLst>
              <a:ext uri="{FF2B5EF4-FFF2-40B4-BE49-F238E27FC236}">
                <a16:creationId xmlns:a16="http://schemas.microsoft.com/office/drawing/2014/main" id="{951543AB-8AC9-4F4D-B7CE-C4C5CF7B9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483" y="497757"/>
            <a:ext cx="8140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Write a program for swapping two variables.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0FFB3F-5A09-49AF-A590-5A1504AB6AA5}"/>
              </a:ext>
            </a:extLst>
          </p:cNvPr>
          <p:cNvSpPr/>
          <p:nvPr/>
        </p:nvSpPr>
        <p:spPr>
          <a:xfrm>
            <a:off x="710695" y="968674"/>
            <a:ext cx="8986770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latin typeface="Consolas" panose="020B0609020204030204" pitchFamily="49" charset="0"/>
              </a:rPr>
              <a:t> swap(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n1,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n2)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temp = n1;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n1 = n2;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n2 = temp;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8D46F6-D5F4-492F-8D47-507DEC41BC6D}"/>
              </a:ext>
            </a:extLst>
          </p:cNvPr>
          <p:cNvSpPr/>
          <p:nvPr/>
        </p:nvSpPr>
        <p:spPr>
          <a:xfrm>
            <a:off x="846464" y="3000223"/>
            <a:ext cx="8986770" cy="28623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num1 = 1;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num2 = 2;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swap(num1, num2);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"After invoking the swap function, num1 is "</a:t>
            </a:r>
          </a:p>
          <a:p>
            <a:pPr lvl="0"/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num1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 and num2 is "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num2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D9AC64-7CC4-46BB-992B-BE0C12534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408" y="4764447"/>
            <a:ext cx="1474153" cy="19779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85B643B-DFBC-4890-BCD0-6491769E9326}"/>
              </a:ext>
            </a:extLst>
          </p:cNvPr>
          <p:cNvSpPr/>
          <p:nvPr/>
        </p:nvSpPr>
        <p:spPr>
          <a:xfrm>
            <a:off x="6852152" y="2379778"/>
            <a:ext cx="3110805" cy="1815882"/>
          </a:xfrm>
          <a:custGeom>
            <a:avLst/>
            <a:gdLst>
              <a:gd name="connsiteX0" fmla="*/ 0 w 3110805"/>
              <a:gd name="connsiteY0" fmla="*/ 0 h 1815882"/>
              <a:gd name="connsiteX1" fmla="*/ 549576 w 3110805"/>
              <a:gd name="connsiteY1" fmla="*/ 0 h 1815882"/>
              <a:gd name="connsiteX2" fmla="*/ 1036935 w 3110805"/>
              <a:gd name="connsiteY2" fmla="*/ 0 h 1815882"/>
              <a:gd name="connsiteX3" fmla="*/ 1586511 w 3110805"/>
              <a:gd name="connsiteY3" fmla="*/ 0 h 1815882"/>
              <a:gd name="connsiteX4" fmla="*/ 2011654 w 3110805"/>
              <a:gd name="connsiteY4" fmla="*/ 0 h 1815882"/>
              <a:gd name="connsiteX5" fmla="*/ 2530121 w 3110805"/>
              <a:gd name="connsiteY5" fmla="*/ 0 h 1815882"/>
              <a:gd name="connsiteX6" fmla="*/ 3110805 w 3110805"/>
              <a:gd name="connsiteY6" fmla="*/ 0 h 1815882"/>
              <a:gd name="connsiteX7" fmla="*/ 3110805 w 3110805"/>
              <a:gd name="connsiteY7" fmla="*/ 435812 h 1815882"/>
              <a:gd name="connsiteX8" fmla="*/ 3110805 w 3110805"/>
              <a:gd name="connsiteY8" fmla="*/ 889782 h 1815882"/>
              <a:gd name="connsiteX9" fmla="*/ 3110805 w 3110805"/>
              <a:gd name="connsiteY9" fmla="*/ 1289276 h 1815882"/>
              <a:gd name="connsiteX10" fmla="*/ 3110805 w 3110805"/>
              <a:gd name="connsiteY10" fmla="*/ 1815882 h 1815882"/>
              <a:gd name="connsiteX11" fmla="*/ 2561229 w 3110805"/>
              <a:gd name="connsiteY11" fmla="*/ 1815882 h 1815882"/>
              <a:gd name="connsiteX12" fmla="*/ 2073870 w 3110805"/>
              <a:gd name="connsiteY12" fmla="*/ 1815882 h 1815882"/>
              <a:gd name="connsiteX13" fmla="*/ 1493186 w 3110805"/>
              <a:gd name="connsiteY13" fmla="*/ 1815882 h 1815882"/>
              <a:gd name="connsiteX14" fmla="*/ 1068043 w 3110805"/>
              <a:gd name="connsiteY14" fmla="*/ 1815882 h 1815882"/>
              <a:gd name="connsiteX15" fmla="*/ 580684 w 3110805"/>
              <a:gd name="connsiteY15" fmla="*/ 1815882 h 1815882"/>
              <a:gd name="connsiteX16" fmla="*/ 0 w 3110805"/>
              <a:gd name="connsiteY16" fmla="*/ 1815882 h 1815882"/>
              <a:gd name="connsiteX17" fmla="*/ 0 w 3110805"/>
              <a:gd name="connsiteY17" fmla="*/ 1416388 h 1815882"/>
              <a:gd name="connsiteX18" fmla="*/ 0 w 3110805"/>
              <a:gd name="connsiteY18" fmla="*/ 944259 h 1815882"/>
              <a:gd name="connsiteX19" fmla="*/ 0 w 3110805"/>
              <a:gd name="connsiteY19" fmla="*/ 544765 h 1815882"/>
              <a:gd name="connsiteX20" fmla="*/ 0 w 3110805"/>
              <a:gd name="connsiteY20" fmla="*/ 0 h 181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110805" h="1815882" fill="none" extrusionOk="0">
                <a:moveTo>
                  <a:pt x="0" y="0"/>
                </a:moveTo>
                <a:cubicBezTo>
                  <a:pt x="123506" y="-62742"/>
                  <a:pt x="357562" y="22114"/>
                  <a:pt x="549576" y="0"/>
                </a:cubicBezTo>
                <a:cubicBezTo>
                  <a:pt x="741590" y="-22114"/>
                  <a:pt x="886675" y="19523"/>
                  <a:pt x="1036935" y="0"/>
                </a:cubicBezTo>
                <a:cubicBezTo>
                  <a:pt x="1187195" y="-19523"/>
                  <a:pt x="1449790" y="58631"/>
                  <a:pt x="1586511" y="0"/>
                </a:cubicBezTo>
                <a:cubicBezTo>
                  <a:pt x="1723232" y="-58631"/>
                  <a:pt x="1863435" y="28297"/>
                  <a:pt x="2011654" y="0"/>
                </a:cubicBezTo>
                <a:cubicBezTo>
                  <a:pt x="2159873" y="-28297"/>
                  <a:pt x="2313753" y="11515"/>
                  <a:pt x="2530121" y="0"/>
                </a:cubicBezTo>
                <a:cubicBezTo>
                  <a:pt x="2746489" y="-11515"/>
                  <a:pt x="2867527" y="27192"/>
                  <a:pt x="3110805" y="0"/>
                </a:cubicBezTo>
                <a:cubicBezTo>
                  <a:pt x="3152876" y="181392"/>
                  <a:pt x="3091592" y="276116"/>
                  <a:pt x="3110805" y="435812"/>
                </a:cubicBezTo>
                <a:cubicBezTo>
                  <a:pt x="3130018" y="595508"/>
                  <a:pt x="3097685" y="775225"/>
                  <a:pt x="3110805" y="889782"/>
                </a:cubicBezTo>
                <a:cubicBezTo>
                  <a:pt x="3123925" y="1004339"/>
                  <a:pt x="3071085" y="1155466"/>
                  <a:pt x="3110805" y="1289276"/>
                </a:cubicBezTo>
                <a:cubicBezTo>
                  <a:pt x="3150525" y="1423086"/>
                  <a:pt x="3108175" y="1584516"/>
                  <a:pt x="3110805" y="1815882"/>
                </a:cubicBezTo>
                <a:cubicBezTo>
                  <a:pt x="2903542" y="1848256"/>
                  <a:pt x="2697921" y="1801511"/>
                  <a:pt x="2561229" y="1815882"/>
                </a:cubicBezTo>
                <a:cubicBezTo>
                  <a:pt x="2424537" y="1830253"/>
                  <a:pt x="2287581" y="1795911"/>
                  <a:pt x="2073870" y="1815882"/>
                </a:cubicBezTo>
                <a:cubicBezTo>
                  <a:pt x="1860159" y="1835853"/>
                  <a:pt x="1674295" y="1799866"/>
                  <a:pt x="1493186" y="1815882"/>
                </a:cubicBezTo>
                <a:cubicBezTo>
                  <a:pt x="1312077" y="1831898"/>
                  <a:pt x="1252310" y="1782113"/>
                  <a:pt x="1068043" y="1815882"/>
                </a:cubicBezTo>
                <a:cubicBezTo>
                  <a:pt x="883776" y="1849651"/>
                  <a:pt x="744084" y="1813428"/>
                  <a:pt x="580684" y="1815882"/>
                </a:cubicBezTo>
                <a:cubicBezTo>
                  <a:pt x="417284" y="1818336"/>
                  <a:pt x="285602" y="1788262"/>
                  <a:pt x="0" y="1815882"/>
                </a:cubicBezTo>
                <a:cubicBezTo>
                  <a:pt x="-25515" y="1681064"/>
                  <a:pt x="2152" y="1520841"/>
                  <a:pt x="0" y="1416388"/>
                </a:cubicBezTo>
                <a:cubicBezTo>
                  <a:pt x="-2152" y="1311935"/>
                  <a:pt x="3143" y="1124750"/>
                  <a:pt x="0" y="944259"/>
                </a:cubicBezTo>
                <a:cubicBezTo>
                  <a:pt x="-3143" y="763768"/>
                  <a:pt x="44746" y="708514"/>
                  <a:pt x="0" y="544765"/>
                </a:cubicBezTo>
                <a:cubicBezTo>
                  <a:pt x="-44746" y="381016"/>
                  <a:pt x="33306" y="168621"/>
                  <a:pt x="0" y="0"/>
                </a:cubicBezTo>
                <a:close/>
              </a:path>
              <a:path w="3110805" h="1815882" stroke="0" extrusionOk="0">
                <a:moveTo>
                  <a:pt x="0" y="0"/>
                </a:moveTo>
                <a:cubicBezTo>
                  <a:pt x="237543" y="-10138"/>
                  <a:pt x="288201" y="33428"/>
                  <a:pt x="487359" y="0"/>
                </a:cubicBezTo>
                <a:cubicBezTo>
                  <a:pt x="686517" y="-33428"/>
                  <a:pt x="932439" y="56368"/>
                  <a:pt x="1068043" y="0"/>
                </a:cubicBezTo>
                <a:cubicBezTo>
                  <a:pt x="1203647" y="-56368"/>
                  <a:pt x="1516416" y="47289"/>
                  <a:pt x="1648727" y="0"/>
                </a:cubicBezTo>
                <a:cubicBezTo>
                  <a:pt x="1781038" y="-47289"/>
                  <a:pt x="1967548" y="53125"/>
                  <a:pt x="2229410" y="0"/>
                </a:cubicBezTo>
                <a:cubicBezTo>
                  <a:pt x="2491272" y="-53125"/>
                  <a:pt x="2907474" y="96950"/>
                  <a:pt x="3110805" y="0"/>
                </a:cubicBezTo>
                <a:cubicBezTo>
                  <a:pt x="3117120" y="136687"/>
                  <a:pt x="3054234" y="260296"/>
                  <a:pt x="3110805" y="472129"/>
                </a:cubicBezTo>
                <a:cubicBezTo>
                  <a:pt x="3167376" y="683962"/>
                  <a:pt x="3074264" y="720623"/>
                  <a:pt x="3110805" y="907941"/>
                </a:cubicBezTo>
                <a:cubicBezTo>
                  <a:pt x="3147346" y="1095259"/>
                  <a:pt x="3061420" y="1268082"/>
                  <a:pt x="3110805" y="1361912"/>
                </a:cubicBezTo>
                <a:cubicBezTo>
                  <a:pt x="3160190" y="1455742"/>
                  <a:pt x="3084587" y="1659211"/>
                  <a:pt x="3110805" y="1815882"/>
                </a:cubicBezTo>
                <a:cubicBezTo>
                  <a:pt x="2956189" y="1840328"/>
                  <a:pt x="2685454" y="1758602"/>
                  <a:pt x="2561229" y="1815882"/>
                </a:cubicBezTo>
                <a:cubicBezTo>
                  <a:pt x="2437004" y="1873162"/>
                  <a:pt x="2256723" y="1815586"/>
                  <a:pt x="2136086" y="1815882"/>
                </a:cubicBezTo>
                <a:cubicBezTo>
                  <a:pt x="2015449" y="1816178"/>
                  <a:pt x="1878320" y="1771174"/>
                  <a:pt x="1710943" y="1815882"/>
                </a:cubicBezTo>
                <a:cubicBezTo>
                  <a:pt x="1543566" y="1860590"/>
                  <a:pt x="1478450" y="1773668"/>
                  <a:pt x="1254691" y="1815882"/>
                </a:cubicBezTo>
                <a:cubicBezTo>
                  <a:pt x="1030932" y="1858096"/>
                  <a:pt x="949490" y="1795742"/>
                  <a:pt x="736224" y="1815882"/>
                </a:cubicBezTo>
                <a:cubicBezTo>
                  <a:pt x="522958" y="1836022"/>
                  <a:pt x="254933" y="1761359"/>
                  <a:pt x="0" y="1815882"/>
                </a:cubicBezTo>
                <a:cubicBezTo>
                  <a:pt x="-36871" y="1675059"/>
                  <a:pt x="19122" y="1598037"/>
                  <a:pt x="0" y="1416388"/>
                </a:cubicBezTo>
                <a:cubicBezTo>
                  <a:pt x="-19122" y="1234739"/>
                  <a:pt x="47219" y="1153346"/>
                  <a:pt x="0" y="944259"/>
                </a:cubicBezTo>
                <a:cubicBezTo>
                  <a:pt x="-47219" y="735172"/>
                  <a:pt x="48777" y="588449"/>
                  <a:pt x="0" y="472129"/>
                </a:cubicBezTo>
                <a:cubicBezTo>
                  <a:pt x="-48777" y="355809"/>
                  <a:pt x="33115" y="148026"/>
                  <a:pt x="0" y="0"/>
                </a:cubicBezTo>
                <a:close/>
              </a:path>
            </a:pathLst>
          </a:custGeom>
          <a:solidFill>
            <a:srgbClr val="FFEEB9"/>
          </a:solidFill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0880876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altLang="en-US" sz="2800" dirty="0">
                <a:solidFill>
                  <a:srgbClr val="C00000"/>
                </a:solidFill>
              </a:rPr>
              <a:t>The values of the arguments are not changed after the function is invoked. 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6EF619-5ED0-4C4E-87AE-72F96BFCA7F0}"/>
              </a:ext>
            </a:extLst>
          </p:cNvPr>
          <p:cNvSpPr/>
          <p:nvPr/>
        </p:nvSpPr>
        <p:spPr>
          <a:xfrm>
            <a:off x="1962567" y="5770436"/>
            <a:ext cx="7373118" cy="369332"/>
          </a:xfrm>
          <a:prstGeom prst="rect">
            <a:avLst/>
          </a:prstGeom>
          <a:solidFill>
            <a:schemeClr val="tx1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After invoking the swap function, num1 is 1 and num2 is 2</a:t>
            </a:r>
          </a:p>
        </p:txBody>
      </p:sp>
    </p:spTree>
    <p:extLst>
      <p:ext uri="{BB962C8B-B14F-4D97-AF65-F5344CB8AC3E}">
        <p14:creationId xmlns:p14="http://schemas.microsoft.com/office/powerpoint/2010/main" val="72355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6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2E8762B3-6793-4000-9BF0-FDC46A12FAA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14000" y="-347025"/>
            <a:ext cx="7772400" cy="1428750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C00000"/>
                </a:solidFill>
                <a:sym typeface="Arial"/>
              </a:rPr>
              <a:t>Pass by Value, cont.</a:t>
            </a:r>
          </a:p>
        </p:txBody>
      </p:sp>
      <p:sp>
        <p:nvSpPr>
          <p:cNvPr id="54276" name="Rectangle 7">
            <a:extLst>
              <a:ext uri="{FF2B5EF4-FFF2-40B4-BE49-F238E27FC236}">
                <a16:creationId xmlns:a16="http://schemas.microsoft.com/office/drawing/2014/main" id="{6B9D6FCD-FCAB-4A9B-8A97-203DEC290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988" y="211455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4277" name="Rectangle 9">
            <a:extLst>
              <a:ext uri="{FF2B5EF4-FFF2-40B4-BE49-F238E27FC236}">
                <a16:creationId xmlns:a16="http://schemas.microsoft.com/office/drawing/2014/main" id="{6484ACC0-57B5-48B2-B67C-D91E8F873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9788" y="225583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4278" name="Rectangle 11">
            <a:extLst>
              <a:ext uri="{FF2B5EF4-FFF2-40B4-BE49-F238E27FC236}">
                <a16:creationId xmlns:a16="http://schemas.microsoft.com/office/drawing/2014/main" id="{C4C3ABD5-A7A0-468B-B2A9-AC84CB615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025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F06A4D-C130-407F-97A1-39DA25BAB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450" y="2114550"/>
            <a:ext cx="8449100" cy="338649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C8710CE-545A-4CDC-AB28-FF79C79061A3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6" name="progressBarBackground">
            <a:extLst>
              <a:ext uri="{FF2B5EF4-FFF2-40B4-BE49-F238E27FC236}">
                <a16:creationId xmlns:a16="http://schemas.microsoft.com/office/drawing/2014/main" id="{20E31698-F25F-4214-AB37-4EB4F8DDA783}"/>
              </a:ext>
            </a:extLst>
          </p:cNvPr>
          <p:cNvSpPr/>
          <p:nvPr/>
        </p:nvSpPr>
        <p:spPr bwMode="auto"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 w="12700" cap="flat" cmpd="sng" algn="ctr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AEAF8BD-D812-458A-9161-BAC787334730}"/>
              </a:ext>
            </a:extLst>
          </p:cNvPr>
          <p:cNvSpPr/>
          <p:nvPr/>
        </p:nvSpPr>
        <p:spPr>
          <a:xfrm>
            <a:off x="983425" y="3140893"/>
            <a:ext cx="8986770" cy="28623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num1 = 1;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num2 = 2;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swap(num1, num2);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"After invoking the swap function, num1 is "</a:t>
            </a:r>
          </a:p>
          <a:p>
            <a:pPr lvl="0"/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num1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 and num2 is "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num2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08EB7BEA-3BB4-43D2-9DDA-E7C63BE32A9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419600" y="-38100"/>
            <a:ext cx="7772400" cy="611188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C00000"/>
                </a:solidFill>
                <a:sym typeface="Arial"/>
              </a:rPr>
              <a:t>Pass by Reference</a:t>
            </a:r>
          </a:p>
        </p:txBody>
      </p:sp>
      <p:sp>
        <p:nvSpPr>
          <p:cNvPr id="53252" name="Text Box 3">
            <a:extLst>
              <a:ext uri="{FF2B5EF4-FFF2-40B4-BE49-F238E27FC236}">
                <a16:creationId xmlns:a16="http://schemas.microsoft.com/office/drawing/2014/main" id="{951543AB-8AC9-4F4D-B7CE-C4C5CF7B9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892" y="539421"/>
            <a:ext cx="81407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dirty="0"/>
              <a:t>Write a program for swapping two variables.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0FFB3F-5A09-49AF-A590-5A1504AB6AA5}"/>
              </a:ext>
            </a:extLst>
          </p:cNvPr>
          <p:cNvSpPr/>
          <p:nvPr/>
        </p:nvSpPr>
        <p:spPr>
          <a:xfrm>
            <a:off x="914400" y="1117890"/>
            <a:ext cx="8986770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latin typeface="Consolas" panose="020B0609020204030204" pitchFamily="49" charset="0"/>
              </a:rPr>
              <a:t> swap(</a:t>
            </a:r>
            <a:r>
              <a:rPr lang="en-US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&amp;</a:t>
            </a:r>
            <a:r>
              <a:rPr lang="en-US" sz="2000" dirty="0">
                <a:latin typeface="Consolas" panose="020B0609020204030204" pitchFamily="49" charset="0"/>
              </a:rPr>
              <a:t> n1, </a:t>
            </a:r>
            <a:r>
              <a:rPr lang="en-US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&amp;</a:t>
            </a:r>
            <a:r>
              <a:rPr lang="en-US" sz="2000" dirty="0">
                <a:latin typeface="Consolas" panose="020B0609020204030204" pitchFamily="49" charset="0"/>
              </a:rPr>
              <a:t> n2)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temp = n1;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n1 = n2;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n2 = temp;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6EF619-5ED0-4C4E-87AE-72F96BFCA7F0}"/>
              </a:ext>
            </a:extLst>
          </p:cNvPr>
          <p:cNvSpPr/>
          <p:nvPr/>
        </p:nvSpPr>
        <p:spPr>
          <a:xfrm>
            <a:off x="2985195" y="5753454"/>
            <a:ext cx="7373118" cy="369332"/>
          </a:xfrm>
          <a:prstGeom prst="rect">
            <a:avLst/>
          </a:prstGeom>
          <a:solidFill>
            <a:schemeClr val="tx1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After invoking the swap function, num1 is 2 and num2 is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A0C8D7-C2F4-43CD-A6D7-31B5E9949789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5" name="progressBarBackground">
            <a:extLst>
              <a:ext uri="{FF2B5EF4-FFF2-40B4-BE49-F238E27FC236}">
                <a16:creationId xmlns:a16="http://schemas.microsoft.com/office/drawing/2014/main" id="{CA14603C-B415-4D27-972C-1AFC8CC2A7A3}"/>
              </a:ext>
            </a:extLst>
          </p:cNvPr>
          <p:cNvSpPr/>
          <p:nvPr/>
        </p:nvSpPr>
        <p:spPr bwMode="auto"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 w="12700" cap="flat" cmpd="sng" algn="ctr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rogressBar">
            <a:extLst>
              <a:ext uri="{FF2B5EF4-FFF2-40B4-BE49-F238E27FC236}">
                <a16:creationId xmlns:a16="http://schemas.microsoft.com/office/drawing/2014/main" id="{1DE21A9F-09B9-454B-B8BC-257EB23F1DEC}"/>
              </a:ext>
            </a:extLst>
          </p:cNvPr>
          <p:cNvSpPr/>
          <p:nvPr/>
        </p:nvSpPr>
        <p:spPr bwMode="auto">
          <a:xfrm>
            <a:off x="1524000" y="6813550"/>
            <a:ext cx="7022592" cy="44450"/>
          </a:xfrm>
          <a:prstGeom prst="rect">
            <a:avLst/>
          </a:prstGeom>
          <a:solidFill>
            <a:srgbClr val="141414"/>
          </a:solidFill>
          <a:ln w="12700" cap="flat" cmpd="sng" algn="ctr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6B8D246F-C334-4159-AA2B-A00DBA8EE2AF}"/>
              </a:ext>
            </a:extLst>
          </p:cNvPr>
          <p:cNvSpPr txBox="1"/>
          <p:nvPr/>
        </p:nvSpPr>
        <p:spPr>
          <a:xfrm>
            <a:off x="10033000" y="6565900"/>
            <a:ext cx="1270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141414"/>
                </a:solidFill>
              </a:rPr>
              <a:t> 96</a:t>
            </a:r>
          </a:p>
        </p:txBody>
      </p:sp>
    </p:spTree>
    <p:extLst>
      <p:ext uri="{BB962C8B-B14F-4D97-AF65-F5344CB8AC3E}">
        <p14:creationId xmlns:p14="http://schemas.microsoft.com/office/powerpoint/2010/main" val="237209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2E8762B3-6793-4000-9BF0-FDC46A12FAA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6080" y="142240"/>
            <a:ext cx="7772400" cy="904240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C00000"/>
                </a:solidFill>
                <a:sym typeface="Arial"/>
              </a:rPr>
              <a:t>Pass by Reference, cont.</a:t>
            </a:r>
          </a:p>
        </p:txBody>
      </p:sp>
      <p:sp>
        <p:nvSpPr>
          <p:cNvPr id="54276" name="Rectangle 7">
            <a:extLst>
              <a:ext uri="{FF2B5EF4-FFF2-40B4-BE49-F238E27FC236}">
                <a16:creationId xmlns:a16="http://schemas.microsoft.com/office/drawing/2014/main" id="{6B9D6FCD-FCAB-4A9B-8A97-203DEC290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988" y="211455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4277" name="Rectangle 9">
            <a:extLst>
              <a:ext uri="{FF2B5EF4-FFF2-40B4-BE49-F238E27FC236}">
                <a16:creationId xmlns:a16="http://schemas.microsoft.com/office/drawing/2014/main" id="{6484ACC0-57B5-48B2-B67C-D91E8F873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9788" y="225583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4278" name="Rectangle 11">
            <a:extLst>
              <a:ext uri="{FF2B5EF4-FFF2-40B4-BE49-F238E27FC236}">
                <a16:creationId xmlns:a16="http://schemas.microsoft.com/office/drawing/2014/main" id="{C4C3ABD5-A7A0-468B-B2A9-AC84CB615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025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584055-1039-4B75-891F-856946028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1" y="1859486"/>
            <a:ext cx="9144000" cy="364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95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26</a:t>
            </a:fld>
            <a:endParaRPr lang="en-US" altLang="en-US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8D8A72BE-54E3-4CBE-AB6A-C1ADA5D9CE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87680" y="652707"/>
            <a:ext cx="7772400" cy="431800"/>
          </a:xfrm>
        </p:spPr>
        <p:txBody>
          <a:bodyPr>
            <a:noAutofit/>
          </a:bodyPr>
          <a:lstStyle/>
          <a:p>
            <a:r>
              <a:rPr lang="en-US" altLang="en-US" b="1" dirty="0">
                <a:solidFill>
                  <a:srgbClr val="C00000"/>
                </a:solidFill>
                <a:sym typeface="Arial"/>
              </a:rPr>
              <a:t>Reference Variables 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7A0EC8-9BE1-473F-AC3A-0669103E4A98}"/>
              </a:ext>
            </a:extLst>
          </p:cNvPr>
          <p:cNvSpPr/>
          <p:nvPr/>
        </p:nvSpPr>
        <p:spPr>
          <a:xfrm>
            <a:off x="1363450" y="1084411"/>
            <a:ext cx="8679530" cy="53245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main()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count = 1;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&amp; r = count;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"count is "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count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"r is "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r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  r++;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"count is "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count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"r is "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r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  count = 10;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"count is "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count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"r is "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r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latin typeface="Consolas" panose="020B0609020204030204" pitchFamily="49" charset="0"/>
              </a:rPr>
              <a:t> 0;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DC22F1-5A95-429D-AC01-D70379AFC209}"/>
              </a:ext>
            </a:extLst>
          </p:cNvPr>
          <p:cNvSpPr/>
          <p:nvPr/>
        </p:nvSpPr>
        <p:spPr>
          <a:xfrm>
            <a:off x="7136674" y="4327467"/>
            <a:ext cx="2519489" cy="175432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87FF19"/>
                </a:solidFill>
                <a:latin typeface="Consolas" panose="020B0609020204030204" pitchFamily="49" charset="0"/>
              </a:rPr>
              <a:t>count is 1</a:t>
            </a:r>
          </a:p>
          <a:p>
            <a:r>
              <a:rPr lang="en-US">
                <a:solidFill>
                  <a:srgbClr val="87FF19"/>
                </a:solidFill>
                <a:latin typeface="Consolas" panose="020B0609020204030204" pitchFamily="49" charset="0"/>
              </a:rPr>
              <a:t>r is 1</a:t>
            </a:r>
          </a:p>
          <a:p>
            <a:r>
              <a:rPr lang="en-US">
                <a:solidFill>
                  <a:srgbClr val="87FF19"/>
                </a:solidFill>
                <a:latin typeface="Consolas" panose="020B0609020204030204" pitchFamily="49" charset="0"/>
              </a:rPr>
              <a:t>count is 2</a:t>
            </a:r>
          </a:p>
          <a:p>
            <a:r>
              <a:rPr lang="en-US">
                <a:solidFill>
                  <a:srgbClr val="87FF19"/>
                </a:solidFill>
                <a:latin typeface="Consolas" panose="020B0609020204030204" pitchFamily="49" charset="0"/>
              </a:rPr>
              <a:t>r is 2</a:t>
            </a:r>
          </a:p>
          <a:p>
            <a:r>
              <a:rPr lang="en-US">
                <a:solidFill>
                  <a:srgbClr val="87FF19"/>
                </a:solidFill>
                <a:latin typeface="Consolas" panose="020B0609020204030204" pitchFamily="49" charset="0"/>
              </a:rPr>
              <a:t>count is 10</a:t>
            </a:r>
          </a:p>
          <a:p>
            <a:r>
              <a:rPr lang="en-US">
                <a:solidFill>
                  <a:srgbClr val="87FF19"/>
                </a:solidFill>
                <a:latin typeface="Consolas" panose="020B0609020204030204" pitchFamily="49" charset="0"/>
              </a:rPr>
              <a:t>r is 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CD7FA7-05D4-4A71-92F9-C49544271DA8}"/>
              </a:ext>
            </a:extLst>
          </p:cNvPr>
          <p:cNvSpPr/>
          <p:nvPr/>
        </p:nvSpPr>
        <p:spPr bwMode="auto">
          <a:xfrm>
            <a:off x="1531874" y="2357956"/>
            <a:ext cx="153620" cy="307240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967600-C0EC-4012-AB62-5E72B6462E6B}"/>
              </a:ext>
            </a:extLst>
          </p:cNvPr>
          <p:cNvSpPr/>
          <p:nvPr/>
        </p:nvSpPr>
        <p:spPr bwMode="auto">
          <a:xfrm>
            <a:off x="1531874" y="2683660"/>
            <a:ext cx="153620" cy="307240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916482-27EA-4457-8B74-0936F40B92BD}"/>
              </a:ext>
            </a:extLst>
          </p:cNvPr>
          <p:cNvSpPr/>
          <p:nvPr/>
        </p:nvSpPr>
        <p:spPr bwMode="auto">
          <a:xfrm>
            <a:off x="1531874" y="3571515"/>
            <a:ext cx="153620" cy="307240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3FD6E-E28E-42C4-B3C9-A9B64C58B576}"/>
              </a:ext>
            </a:extLst>
          </p:cNvPr>
          <p:cNvSpPr/>
          <p:nvPr/>
        </p:nvSpPr>
        <p:spPr bwMode="auto">
          <a:xfrm>
            <a:off x="1531874" y="3897219"/>
            <a:ext cx="153620" cy="307240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E8F51D-4F12-4FC5-BCDE-9403050AE395}"/>
              </a:ext>
            </a:extLst>
          </p:cNvPr>
          <p:cNvSpPr/>
          <p:nvPr/>
        </p:nvSpPr>
        <p:spPr bwMode="auto">
          <a:xfrm>
            <a:off x="1531874" y="4785075"/>
            <a:ext cx="153620" cy="307240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8E869F-E9C3-4392-8DA4-15E7280C9BB4}"/>
              </a:ext>
            </a:extLst>
          </p:cNvPr>
          <p:cNvSpPr/>
          <p:nvPr/>
        </p:nvSpPr>
        <p:spPr bwMode="auto">
          <a:xfrm>
            <a:off x="1531874" y="5110779"/>
            <a:ext cx="153620" cy="307240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A22BDE-6831-4C72-A7D5-53B070BF5F67}"/>
              </a:ext>
            </a:extLst>
          </p:cNvPr>
          <p:cNvSpPr/>
          <p:nvPr/>
        </p:nvSpPr>
        <p:spPr bwMode="auto">
          <a:xfrm>
            <a:off x="1531874" y="3245811"/>
            <a:ext cx="153620" cy="307240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C9E01C-2C04-4630-B7FF-AEC4B816A4C9}"/>
              </a:ext>
            </a:extLst>
          </p:cNvPr>
          <p:cNvSpPr/>
          <p:nvPr/>
        </p:nvSpPr>
        <p:spPr bwMode="auto">
          <a:xfrm>
            <a:off x="1531874" y="4459371"/>
            <a:ext cx="153620" cy="307240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5C7A74-3C60-49F4-9635-5340D0F3FEC7}"/>
              </a:ext>
            </a:extLst>
          </p:cNvPr>
          <p:cNvSpPr/>
          <p:nvPr/>
        </p:nvSpPr>
        <p:spPr bwMode="auto">
          <a:xfrm>
            <a:off x="1531874" y="1747868"/>
            <a:ext cx="153620" cy="307240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8ED13C-2C33-45B5-B4CF-FCD822647147}"/>
              </a:ext>
            </a:extLst>
          </p:cNvPr>
          <p:cNvSpPr/>
          <p:nvPr/>
        </p:nvSpPr>
        <p:spPr bwMode="auto">
          <a:xfrm>
            <a:off x="1531874" y="2032252"/>
            <a:ext cx="153620" cy="307240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21"/>
          <p:cNvSpPr txBox="1">
            <a:spLocks/>
          </p:cNvSpPr>
          <p:nvPr/>
        </p:nvSpPr>
        <p:spPr>
          <a:xfrm>
            <a:off x="1103037" y="105138"/>
            <a:ext cx="9099697" cy="4756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accent1"/>
              </a:buClr>
              <a:buSzPts val="2000"/>
            </a:pPr>
            <a:r>
              <a:rPr lang="en-US" sz="2800" b="1" cap="all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Pass Arrays as Function Parameters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53275" y="949524"/>
            <a:ext cx="88006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You can also </a:t>
            </a:r>
            <a:r>
              <a:rPr lang="en-US" sz="2400" b="1" i="1" dirty="0">
                <a:latin typeface="+mn-lt"/>
              </a:rPr>
              <a:t>pass arrays</a:t>
            </a:r>
            <a:r>
              <a:rPr lang="en-US" sz="2400" dirty="0">
                <a:latin typeface="+mn-lt"/>
              </a:rPr>
              <a:t> to a function:</a:t>
            </a:r>
          </a:p>
        </p:txBody>
      </p:sp>
      <p:sp>
        <p:nvSpPr>
          <p:cNvPr id="3" name="Rectangle 2"/>
          <p:cNvSpPr/>
          <p:nvPr/>
        </p:nvSpPr>
        <p:spPr>
          <a:xfrm>
            <a:off x="2396924" y="1790672"/>
            <a:ext cx="6237790" cy="38164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00CD"/>
                </a:solidFill>
              </a:rPr>
              <a:t>void</a:t>
            </a:r>
            <a:r>
              <a:rPr lang="en-US" sz="2200" b="1" dirty="0">
                <a:solidFill>
                  <a:srgbClr val="000000"/>
                </a:solidFill>
              </a:rPr>
              <a:t> </a:t>
            </a:r>
            <a:r>
              <a:rPr lang="en-US" sz="2200" b="1" i="1" dirty="0" err="1">
                <a:solidFill>
                  <a:srgbClr val="C00000"/>
                </a:solidFill>
              </a:rPr>
              <a:t>myFunction</a:t>
            </a:r>
            <a:r>
              <a:rPr lang="en-US" sz="2200" b="1" dirty="0">
                <a:solidFill>
                  <a:srgbClr val="000000"/>
                </a:solidFill>
              </a:rPr>
              <a:t>(</a:t>
            </a:r>
            <a:r>
              <a:rPr lang="en-US" sz="2200" b="1" dirty="0">
                <a:solidFill>
                  <a:srgbClr val="0000CD"/>
                </a:solidFill>
              </a:rPr>
              <a:t>int</a:t>
            </a:r>
            <a:r>
              <a:rPr lang="en-US" sz="2200" b="1" dirty="0">
                <a:solidFill>
                  <a:srgbClr val="000000"/>
                </a:solidFill>
              </a:rPr>
              <a:t> x [</a:t>
            </a:r>
            <a:r>
              <a:rPr lang="en-US" sz="2200" b="1" dirty="0">
                <a:solidFill>
                  <a:srgbClr val="FF0000"/>
                </a:solidFill>
              </a:rPr>
              <a:t>5</a:t>
            </a:r>
            <a:r>
              <a:rPr lang="en-US" sz="2200" b="1" dirty="0">
                <a:solidFill>
                  <a:srgbClr val="000000"/>
                </a:solidFill>
              </a:rPr>
              <a:t>]) {</a:t>
            </a:r>
            <a:br>
              <a:rPr lang="en-US" sz="2200" b="1" dirty="0">
                <a:solidFill>
                  <a:srgbClr val="000000"/>
                </a:solidFill>
              </a:rPr>
            </a:br>
            <a:r>
              <a:rPr lang="en-US" sz="2200" b="1" dirty="0">
                <a:solidFill>
                  <a:srgbClr val="000000"/>
                </a:solidFill>
              </a:rPr>
              <a:t>  </a:t>
            </a:r>
            <a:r>
              <a:rPr lang="en-US" sz="2200" b="1" dirty="0">
                <a:solidFill>
                  <a:srgbClr val="0000CD"/>
                </a:solidFill>
              </a:rPr>
              <a:t>for</a:t>
            </a:r>
            <a:r>
              <a:rPr lang="en-US" sz="2200" b="1" dirty="0">
                <a:solidFill>
                  <a:srgbClr val="000000"/>
                </a:solidFill>
              </a:rPr>
              <a:t> (</a:t>
            </a:r>
            <a:r>
              <a:rPr lang="en-US" sz="2200" b="1" dirty="0">
                <a:solidFill>
                  <a:srgbClr val="0000CD"/>
                </a:solidFill>
              </a:rPr>
              <a:t>int</a:t>
            </a:r>
            <a:r>
              <a:rPr lang="en-US" sz="2200" b="1" dirty="0">
                <a:solidFill>
                  <a:srgbClr val="000000"/>
                </a:solidFill>
              </a:rPr>
              <a:t> </a:t>
            </a:r>
            <a:r>
              <a:rPr lang="en-US" sz="2200" b="1" dirty="0" err="1">
                <a:solidFill>
                  <a:srgbClr val="000000"/>
                </a:solidFill>
              </a:rPr>
              <a:t>i</a:t>
            </a:r>
            <a:r>
              <a:rPr lang="en-US" sz="2200" b="1" dirty="0">
                <a:solidFill>
                  <a:srgbClr val="000000"/>
                </a:solidFill>
              </a:rPr>
              <a:t> = </a:t>
            </a:r>
            <a:r>
              <a:rPr lang="en-US" sz="2200" b="1" dirty="0">
                <a:solidFill>
                  <a:srgbClr val="FF0000"/>
                </a:solidFill>
              </a:rPr>
              <a:t>0</a:t>
            </a:r>
            <a:r>
              <a:rPr lang="en-US" sz="2200" b="1" dirty="0">
                <a:solidFill>
                  <a:srgbClr val="000000"/>
                </a:solidFill>
              </a:rPr>
              <a:t>; </a:t>
            </a:r>
            <a:r>
              <a:rPr lang="en-US" sz="2200" b="1" dirty="0" err="1">
                <a:solidFill>
                  <a:srgbClr val="000000"/>
                </a:solidFill>
              </a:rPr>
              <a:t>i</a:t>
            </a:r>
            <a:r>
              <a:rPr lang="en-US" sz="2200" b="1" dirty="0">
                <a:solidFill>
                  <a:srgbClr val="000000"/>
                </a:solidFill>
              </a:rPr>
              <a:t> &lt; </a:t>
            </a:r>
            <a:r>
              <a:rPr lang="en-US" sz="2200" b="1" dirty="0">
                <a:solidFill>
                  <a:srgbClr val="FF0000"/>
                </a:solidFill>
              </a:rPr>
              <a:t>5</a:t>
            </a:r>
            <a:r>
              <a:rPr lang="en-US" sz="2200" b="1" dirty="0">
                <a:solidFill>
                  <a:srgbClr val="000000"/>
                </a:solidFill>
              </a:rPr>
              <a:t>; </a:t>
            </a:r>
            <a:r>
              <a:rPr lang="en-US" sz="2200" b="1" dirty="0" err="1">
                <a:solidFill>
                  <a:srgbClr val="000000"/>
                </a:solidFill>
              </a:rPr>
              <a:t>i</a:t>
            </a:r>
            <a:r>
              <a:rPr lang="en-US" sz="2200" b="1" dirty="0">
                <a:solidFill>
                  <a:srgbClr val="000000"/>
                </a:solidFill>
              </a:rPr>
              <a:t>++) { </a:t>
            </a:r>
            <a:br>
              <a:rPr lang="en-US" sz="2200" b="1" dirty="0">
                <a:solidFill>
                  <a:srgbClr val="000000"/>
                </a:solidFill>
              </a:rPr>
            </a:br>
            <a:r>
              <a:rPr lang="en-US" sz="2200" b="1" dirty="0">
                <a:solidFill>
                  <a:srgbClr val="000000"/>
                </a:solidFill>
              </a:rPr>
              <a:t>   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000000"/>
                </a:solidFill>
              </a:rPr>
              <a:t>cout &lt;&lt; x [</a:t>
            </a:r>
            <a:r>
              <a:rPr lang="en-US" sz="2200" b="1" dirty="0" err="1">
                <a:solidFill>
                  <a:srgbClr val="000000"/>
                </a:solidFill>
              </a:rPr>
              <a:t>i</a:t>
            </a:r>
            <a:r>
              <a:rPr lang="en-US" sz="2200" b="1" dirty="0">
                <a:solidFill>
                  <a:srgbClr val="000000"/>
                </a:solidFill>
              </a:rPr>
              <a:t>] &lt;&lt; </a:t>
            </a:r>
            <a:r>
              <a:rPr lang="en-US" sz="2200" b="1" dirty="0">
                <a:solidFill>
                  <a:srgbClr val="A52A2A"/>
                </a:solidFill>
              </a:rPr>
              <a:t>"\n"</a:t>
            </a:r>
            <a:r>
              <a:rPr lang="en-US" sz="2200" b="1" dirty="0">
                <a:solidFill>
                  <a:srgbClr val="000000"/>
                </a:solidFill>
              </a:rPr>
              <a:t>; </a:t>
            </a:r>
            <a:br>
              <a:rPr lang="en-US" sz="2200" b="1" dirty="0">
                <a:solidFill>
                  <a:srgbClr val="000000"/>
                </a:solidFill>
              </a:rPr>
            </a:br>
            <a:r>
              <a:rPr lang="en-US" sz="2200" b="1" dirty="0">
                <a:solidFill>
                  <a:srgbClr val="000000"/>
                </a:solidFill>
              </a:rPr>
              <a:t>  } </a:t>
            </a:r>
            <a:br>
              <a:rPr lang="en-US" sz="2200" b="1" dirty="0">
                <a:solidFill>
                  <a:srgbClr val="000000"/>
                </a:solidFill>
              </a:rPr>
            </a:br>
            <a:r>
              <a:rPr lang="en-US" sz="2200" b="1" dirty="0">
                <a:solidFill>
                  <a:srgbClr val="000000"/>
                </a:solidFill>
              </a:rPr>
              <a:t>}</a:t>
            </a:r>
            <a:br>
              <a:rPr lang="en-US" sz="2200" b="1" dirty="0">
                <a:solidFill>
                  <a:srgbClr val="000000"/>
                </a:solidFill>
              </a:rPr>
            </a:br>
            <a:br>
              <a:rPr lang="en-US" sz="2200" b="1" dirty="0">
                <a:solidFill>
                  <a:srgbClr val="000000"/>
                </a:solidFill>
              </a:rPr>
            </a:br>
            <a:r>
              <a:rPr lang="en-US" sz="2200" b="1" dirty="0">
                <a:solidFill>
                  <a:srgbClr val="0000CD"/>
                </a:solidFill>
              </a:rPr>
              <a:t>int</a:t>
            </a:r>
            <a:r>
              <a:rPr lang="en-US" sz="2200" b="1" dirty="0">
                <a:solidFill>
                  <a:srgbClr val="000000"/>
                </a:solidFill>
              </a:rPr>
              <a:t> main() { </a:t>
            </a:r>
            <a:br>
              <a:rPr lang="en-US" sz="2200" b="1" dirty="0">
                <a:solidFill>
                  <a:srgbClr val="000000"/>
                </a:solidFill>
              </a:rPr>
            </a:br>
            <a:r>
              <a:rPr lang="en-US" sz="2200" b="1" dirty="0">
                <a:solidFill>
                  <a:srgbClr val="000000"/>
                </a:solidFill>
              </a:rPr>
              <a:t>  </a:t>
            </a:r>
            <a:r>
              <a:rPr lang="en-US" sz="2200" b="1" dirty="0">
                <a:solidFill>
                  <a:srgbClr val="0000CD"/>
                </a:solidFill>
              </a:rPr>
              <a:t>int</a:t>
            </a:r>
            <a:r>
              <a:rPr lang="en-US" sz="2200" b="1" dirty="0">
                <a:solidFill>
                  <a:srgbClr val="000000"/>
                </a:solidFill>
              </a:rPr>
              <a:t> numbers[</a:t>
            </a:r>
            <a:r>
              <a:rPr lang="en-US" sz="2200" b="1" dirty="0">
                <a:solidFill>
                  <a:srgbClr val="FF0000"/>
                </a:solidFill>
              </a:rPr>
              <a:t>5</a:t>
            </a:r>
            <a:r>
              <a:rPr lang="en-US" sz="2200" b="1" dirty="0">
                <a:solidFill>
                  <a:srgbClr val="000000"/>
                </a:solidFill>
              </a:rPr>
              <a:t>] = {</a:t>
            </a:r>
            <a:r>
              <a:rPr lang="en-US" sz="2200" b="1" dirty="0">
                <a:solidFill>
                  <a:srgbClr val="FF0000"/>
                </a:solidFill>
              </a:rPr>
              <a:t>10</a:t>
            </a:r>
            <a:r>
              <a:rPr lang="en-US" sz="2200" b="1" dirty="0">
                <a:solidFill>
                  <a:srgbClr val="000000"/>
                </a:solidFill>
              </a:rPr>
              <a:t>, </a:t>
            </a:r>
            <a:r>
              <a:rPr lang="en-US" sz="2200" b="1" dirty="0">
                <a:solidFill>
                  <a:srgbClr val="FF0000"/>
                </a:solidFill>
              </a:rPr>
              <a:t>20</a:t>
            </a:r>
            <a:r>
              <a:rPr lang="en-US" sz="2200" b="1" dirty="0">
                <a:solidFill>
                  <a:srgbClr val="000000"/>
                </a:solidFill>
              </a:rPr>
              <a:t>, </a:t>
            </a:r>
            <a:r>
              <a:rPr lang="en-US" sz="2200" b="1" dirty="0">
                <a:solidFill>
                  <a:srgbClr val="FF0000"/>
                </a:solidFill>
              </a:rPr>
              <a:t>30</a:t>
            </a:r>
            <a:r>
              <a:rPr lang="en-US" sz="2200" b="1" dirty="0">
                <a:solidFill>
                  <a:srgbClr val="000000"/>
                </a:solidFill>
              </a:rPr>
              <a:t>, </a:t>
            </a:r>
            <a:r>
              <a:rPr lang="en-US" sz="2200" b="1" dirty="0">
                <a:solidFill>
                  <a:srgbClr val="FF0000"/>
                </a:solidFill>
              </a:rPr>
              <a:t>40</a:t>
            </a:r>
            <a:r>
              <a:rPr lang="en-US" sz="2200" b="1" dirty="0">
                <a:solidFill>
                  <a:srgbClr val="000000"/>
                </a:solidFill>
              </a:rPr>
              <a:t>, </a:t>
            </a:r>
            <a:r>
              <a:rPr lang="en-US" sz="2200" b="1" dirty="0">
                <a:solidFill>
                  <a:srgbClr val="FF0000"/>
                </a:solidFill>
              </a:rPr>
              <a:t>50</a:t>
            </a:r>
            <a:r>
              <a:rPr lang="en-US" sz="2200" b="1" dirty="0">
                <a:solidFill>
                  <a:srgbClr val="000000"/>
                </a:solidFill>
              </a:rPr>
              <a:t>}; </a:t>
            </a:r>
            <a:br>
              <a:rPr lang="en-US" sz="2200" b="1" dirty="0">
                <a:solidFill>
                  <a:srgbClr val="000000"/>
                </a:solidFill>
              </a:rPr>
            </a:br>
            <a:r>
              <a:rPr lang="en-US" sz="2200" b="1" dirty="0">
                <a:solidFill>
                  <a:srgbClr val="000000"/>
                </a:solidFill>
              </a:rPr>
              <a:t>  </a:t>
            </a:r>
            <a:r>
              <a:rPr lang="en-US" sz="2200" b="1" i="1" dirty="0" err="1">
                <a:solidFill>
                  <a:srgbClr val="C00000"/>
                </a:solidFill>
              </a:rPr>
              <a:t>myFunction</a:t>
            </a:r>
            <a:r>
              <a:rPr lang="en-US" sz="2200" b="1" dirty="0">
                <a:solidFill>
                  <a:srgbClr val="000000"/>
                </a:solidFill>
              </a:rPr>
              <a:t>(numbers);</a:t>
            </a:r>
            <a:br>
              <a:rPr lang="en-US" sz="2200" b="1" dirty="0">
                <a:solidFill>
                  <a:srgbClr val="000000"/>
                </a:solidFill>
              </a:rPr>
            </a:br>
            <a:r>
              <a:rPr lang="en-US" sz="2200" b="1" dirty="0">
                <a:solidFill>
                  <a:srgbClr val="000000"/>
                </a:solidFill>
              </a:rPr>
              <a:t>  </a:t>
            </a:r>
            <a:r>
              <a:rPr lang="en-US" sz="2200" b="1" dirty="0">
                <a:solidFill>
                  <a:srgbClr val="0000CD"/>
                </a:solidFill>
              </a:rPr>
              <a:t>return</a:t>
            </a:r>
            <a:r>
              <a:rPr lang="en-US" sz="2200" b="1" dirty="0">
                <a:solidFill>
                  <a:srgbClr val="00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</a:rPr>
              <a:t>0</a:t>
            </a:r>
            <a:r>
              <a:rPr lang="en-US" sz="2200" b="1" dirty="0">
                <a:solidFill>
                  <a:srgbClr val="000000"/>
                </a:solidFill>
              </a:rPr>
              <a:t>;</a:t>
            </a:r>
            <a:br>
              <a:rPr lang="en-US" sz="2200" b="1" dirty="0">
                <a:solidFill>
                  <a:srgbClr val="000000"/>
                </a:solidFill>
              </a:rPr>
            </a:br>
            <a:r>
              <a:rPr lang="en-US" sz="2200" b="1" dirty="0">
                <a:solidFill>
                  <a:srgbClr val="000000"/>
                </a:solidFill>
              </a:rPr>
              <a:t>} </a:t>
            </a:r>
            <a:endParaRPr lang="en-US" sz="22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1156FE-6A10-A5C9-4DE4-3BD7A631C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9944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1B07288F-1478-417E-BE18-43AB808E7A4D}"/>
              </a:ext>
            </a:extLst>
          </p:cNvPr>
          <p:cNvGrpSpPr/>
          <p:nvPr/>
        </p:nvGrpSpPr>
        <p:grpSpPr>
          <a:xfrm>
            <a:off x="1756235" y="3459657"/>
            <a:ext cx="6832180" cy="2777239"/>
            <a:chOff x="155425" y="4040513"/>
            <a:chExt cx="6283826" cy="314454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49BB9C3-FE83-4EB7-9759-50CBC105D941}"/>
                </a:ext>
              </a:extLst>
            </p:cNvPr>
            <p:cNvGrpSpPr/>
            <p:nvPr/>
          </p:nvGrpSpPr>
          <p:grpSpPr>
            <a:xfrm>
              <a:off x="155425" y="4040513"/>
              <a:ext cx="2664517" cy="3143165"/>
              <a:chOff x="2152485" y="4040513"/>
              <a:chExt cx="2664517" cy="3143165"/>
            </a:xfrm>
          </p:grpSpPr>
          <p:sp>
            <p:nvSpPr>
              <p:cNvPr id="2" name="Left Brace 1">
                <a:extLst>
                  <a:ext uri="{FF2B5EF4-FFF2-40B4-BE49-F238E27FC236}">
                    <a16:creationId xmlns:a16="http://schemas.microsoft.com/office/drawing/2014/main" id="{35176A9B-7DD8-4380-BA40-566693FC84C3}"/>
                  </a:ext>
                </a:extLst>
              </p:cNvPr>
              <p:cNvSpPr/>
              <p:nvPr/>
            </p:nvSpPr>
            <p:spPr bwMode="auto">
              <a:xfrm>
                <a:off x="4548191" y="4040513"/>
                <a:ext cx="268811" cy="3143165"/>
              </a:xfrm>
              <a:prstGeom prst="leftBrace">
                <a:avLst>
                  <a:gd name="adj1" fmla="val 58838"/>
                  <a:gd name="adj2" fmla="val 50000"/>
                </a:avLst>
              </a:prstGeom>
              <a:solidFill>
                <a:srgbClr val="FFEEB9"/>
              </a:solidFill>
              <a:ln w="28575" cap="flat" cmpd="sng" algn="ctr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176D17A0-7020-4C14-82CE-C363E40B33FD}"/>
                  </a:ext>
                </a:extLst>
              </p:cNvPr>
              <p:cNvCxnSpPr>
                <a:cxnSpLocks/>
                <a:stCxn id="7" idx="3"/>
                <a:endCxn id="2" idx="1"/>
              </p:cNvCxnSpPr>
              <p:nvPr/>
            </p:nvCxnSpPr>
            <p:spPr bwMode="auto">
              <a:xfrm flipV="1">
                <a:off x="4164140" y="5612096"/>
                <a:ext cx="384051" cy="1"/>
              </a:xfrm>
              <a:prstGeom prst="straightConnector1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8AEE48-BC20-480F-B6D3-D6D33DCA4330}"/>
                  </a:ext>
                </a:extLst>
              </p:cNvPr>
              <p:cNvSpPr txBox="1"/>
              <p:nvPr/>
            </p:nvSpPr>
            <p:spPr>
              <a:xfrm>
                <a:off x="2152485" y="5381264"/>
                <a:ext cx="2011655" cy="461665"/>
              </a:xfrm>
              <a:prstGeom prst="rect">
                <a:avLst/>
              </a:prstGeom>
              <a:solidFill>
                <a:srgbClr val="FFEEB9"/>
              </a:solidFill>
              <a:ln w="28575" cap="flat" cmpd="sng" algn="ctr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marR="0" indent="0" defTabSz="914400" latinLnBrk="0">
                  <a:lnSpc>
                    <a:spcPct val="100000"/>
                  </a:lnSpc>
                  <a:buClrTx/>
                  <a:buSzTx/>
                  <a:buFontTx/>
                  <a:buNone/>
                  <a:tabLst/>
                  <a:defRPr kumimoji="0" b="0" i="0" u="none" strike="noStrike" cap="none" normalizeH="0" baseline="0">
                    <a:ln>
                      <a:noFill/>
                    </a:ln>
                    <a:effectLst/>
                  </a:defRPr>
                </a:lvl1pPr>
              </a:lstStyle>
              <a:p>
                <a:pPr>
                  <a:defRPr/>
                </a:pPr>
                <a:r>
                  <a:rPr lang="en-US">
                    <a:solidFill>
                      <a:srgbClr val="000000"/>
                    </a:solidFill>
                    <a:latin typeface="Times New Roman"/>
                  </a:rPr>
                  <a:t>The scope of </a:t>
                </a:r>
                <a:r>
                  <a:rPr lang="en-US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i</a:t>
                </a:r>
                <a:endParaRPr lang="en-US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0F03737-EDEF-4C3A-AAB8-3234BBFA9F40}"/>
                </a:ext>
              </a:extLst>
            </p:cNvPr>
            <p:cNvSpPr/>
            <p:nvPr/>
          </p:nvSpPr>
          <p:spPr bwMode="auto">
            <a:xfrm>
              <a:off x="2819942" y="4041893"/>
              <a:ext cx="3619309" cy="3143165"/>
            </a:xfrm>
            <a:prstGeom prst="rect">
              <a:avLst/>
            </a:prstGeom>
            <a:solidFill>
              <a:srgbClr val="FFEEB9"/>
            </a:solidFill>
            <a:ln w="1270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5062" name="Group 45061">
            <a:extLst>
              <a:ext uri="{FF2B5EF4-FFF2-40B4-BE49-F238E27FC236}">
                <a16:creationId xmlns:a16="http://schemas.microsoft.com/office/drawing/2014/main" id="{5E8873B5-36FA-433D-AF78-CE24E5046204}"/>
              </a:ext>
            </a:extLst>
          </p:cNvPr>
          <p:cNvGrpSpPr/>
          <p:nvPr/>
        </p:nvGrpSpPr>
        <p:grpSpPr>
          <a:xfrm>
            <a:off x="4751824" y="4259143"/>
            <a:ext cx="5850585" cy="1704443"/>
            <a:chOff x="3381445" y="4867627"/>
            <a:chExt cx="5230376" cy="2057607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063D112-2362-40B0-9160-0A0B362508C3}"/>
                </a:ext>
              </a:extLst>
            </p:cNvPr>
            <p:cNvGrpSpPr/>
            <p:nvPr/>
          </p:nvGrpSpPr>
          <p:grpSpPr>
            <a:xfrm>
              <a:off x="6607465" y="4867627"/>
              <a:ext cx="2004356" cy="2056138"/>
              <a:chOff x="7774166" y="4900652"/>
              <a:chExt cx="2004356" cy="1668888"/>
            </a:xfrm>
          </p:grpSpPr>
          <p:sp>
            <p:nvSpPr>
              <p:cNvPr id="26" name="Right Brace 25">
                <a:extLst>
                  <a:ext uri="{FF2B5EF4-FFF2-40B4-BE49-F238E27FC236}">
                    <a16:creationId xmlns:a16="http://schemas.microsoft.com/office/drawing/2014/main" id="{309C7490-5116-4500-A863-560CC11ED6C6}"/>
                  </a:ext>
                </a:extLst>
              </p:cNvPr>
              <p:cNvSpPr/>
              <p:nvPr/>
            </p:nvSpPr>
            <p:spPr bwMode="auto">
              <a:xfrm>
                <a:off x="7774166" y="4900652"/>
                <a:ext cx="268813" cy="1668888"/>
              </a:xfrm>
              <a:prstGeom prst="rightBrace">
                <a:avLst>
                  <a:gd name="adj1" fmla="val 63304"/>
                  <a:gd name="adj2" fmla="val 50000"/>
                </a:avLst>
              </a:prstGeom>
              <a:solidFill>
                <a:srgbClr val="DAEFC3"/>
              </a:solidFill>
              <a:ln w="28575" cap="flat" cmpd="sng" algn="ctr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FD490AC-F4E9-4B39-BB46-04C76F331614}"/>
                  </a:ext>
                </a:extLst>
              </p:cNvPr>
              <p:cNvCxnSpPr>
                <a:cxnSpLocks/>
                <a:stCxn id="28" idx="3"/>
              </p:cNvCxnSpPr>
              <p:nvPr/>
            </p:nvCxnSpPr>
            <p:spPr bwMode="auto">
              <a:xfrm flipH="1">
                <a:off x="8698892" y="5735096"/>
                <a:ext cx="1079630" cy="38511"/>
              </a:xfrm>
              <a:prstGeom prst="straightConnector1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0642EC-C03C-47B3-86D9-0A542E4FFC79}"/>
                  </a:ext>
                </a:extLst>
              </p:cNvPr>
              <p:cNvSpPr txBox="1"/>
              <p:nvPr/>
            </p:nvSpPr>
            <p:spPr>
              <a:xfrm>
                <a:off x="8187708" y="5545839"/>
                <a:ext cx="1590814" cy="378514"/>
              </a:xfrm>
              <a:prstGeom prst="rect">
                <a:avLst/>
              </a:prstGeom>
              <a:solidFill>
                <a:srgbClr val="DAEFC3"/>
              </a:solidFill>
              <a:ln w="28575" cap="flat" cmpd="sng" algn="ctr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marR="0" indent="0" defTabSz="914400" latinLnBrk="0">
                  <a:lnSpc>
                    <a:spcPct val="100000"/>
                  </a:lnSpc>
                  <a:buClrTx/>
                  <a:buSzTx/>
                  <a:buFontTx/>
                  <a:buNone/>
                  <a:tabLst/>
                  <a:defRPr kumimoji="0" b="0" i="0" u="none" strike="noStrike" cap="none" normalizeH="0" baseline="0">
                    <a:ln>
                      <a:noFill/>
                    </a:ln>
                    <a:effectLst/>
                  </a:defRPr>
                </a:lvl1pPr>
              </a:lstStyle>
              <a:p>
                <a:pPr>
                  <a:defRPr/>
                </a:pPr>
                <a:r>
                  <a:rPr lang="en-US" dirty="0">
                    <a:solidFill>
                      <a:srgbClr val="000000"/>
                    </a:solidFill>
                    <a:latin typeface="Times New Roman"/>
                  </a:rPr>
                  <a:t>The scope of 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j</a:t>
                </a: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7A24294-014B-48E8-B58A-7AEB5254EA0E}"/>
                </a:ext>
              </a:extLst>
            </p:cNvPr>
            <p:cNvSpPr/>
            <p:nvPr/>
          </p:nvSpPr>
          <p:spPr bwMode="auto">
            <a:xfrm>
              <a:off x="3381445" y="4869096"/>
              <a:ext cx="3226020" cy="2056138"/>
            </a:xfrm>
            <a:prstGeom prst="rect">
              <a:avLst/>
            </a:prstGeom>
            <a:solidFill>
              <a:srgbClr val="DAEFC3"/>
            </a:solidFill>
            <a:ln w="1270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A7B63A8-177A-4B39-A1BB-3711279C0BDC}"/>
                </a:ext>
              </a:extLst>
            </p:cNvPr>
            <p:cNvCxnSpPr>
              <a:cxnSpLocks/>
              <a:stCxn id="26" idx="1"/>
              <a:endCxn id="28" idx="1"/>
            </p:cNvCxnSpPr>
            <p:nvPr/>
          </p:nvCxnSpPr>
          <p:spPr bwMode="auto">
            <a:xfrm>
              <a:off x="6876278" y="5895696"/>
              <a:ext cx="144729" cy="0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11349146" y="6225766"/>
            <a:ext cx="731600" cy="524800"/>
          </a:xfrm>
        </p:spPr>
        <p:txBody>
          <a:bodyPr/>
          <a:lstStyle/>
          <a:p>
            <a:fld id="{F1CD203C-4249-4C1D-A9FB-2DFFEC988227}" type="slidenum">
              <a:rPr lang="en-US" altLang="en-US" smtClean="0"/>
              <a:pPr/>
              <a:t>28</a:t>
            </a:fld>
            <a:endParaRPr lang="en-US" altLang="en-US" dirty="0"/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707C4EAA-E151-4C6F-876F-F9D34779644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50331" y="840102"/>
            <a:ext cx="11360150" cy="1861294"/>
          </a:xfrm>
        </p:spPr>
        <p:txBody>
          <a:bodyPr/>
          <a:lstStyle/>
          <a:p>
            <a:pPr>
              <a:spcBef>
                <a:spcPts val="100"/>
              </a:spcBef>
              <a:buNone/>
            </a:pPr>
            <a:r>
              <a:rPr lang="en-US" altLang="en-US" sz="2200" dirty="0"/>
              <a:t>A </a:t>
            </a:r>
            <a:r>
              <a:rPr lang="en-US" altLang="en-US" sz="2200" b="1" dirty="0"/>
              <a:t>local variable</a:t>
            </a:r>
            <a:r>
              <a:rPr lang="en-US" altLang="en-US" sz="2200" dirty="0"/>
              <a:t>: a variable defined inside a function.</a:t>
            </a:r>
          </a:p>
          <a:p>
            <a:pPr>
              <a:spcBef>
                <a:spcPts val="100"/>
              </a:spcBef>
              <a:buNone/>
            </a:pPr>
            <a:r>
              <a:rPr lang="en-US" altLang="en-US" sz="2200" b="1" dirty="0"/>
              <a:t>Scope</a:t>
            </a:r>
            <a:r>
              <a:rPr lang="en-US" altLang="en-US" sz="2200" dirty="0"/>
              <a:t>: </a:t>
            </a:r>
            <a:r>
              <a:rPr lang="en-US" altLang="en-US" sz="2200" dirty="0">
                <a:solidFill>
                  <a:srgbClr val="C00000"/>
                </a:solidFill>
              </a:rPr>
              <a:t>o</a:t>
            </a:r>
            <a:r>
              <a:rPr lang="en-US" altLang="en-US" sz="2200" dirty="0"/>
              <a:t> where in the program the variable can be referenced.</a:t>
            </a:r>
          </a:p>
          <a:p>
            <a:pPr>
              <a:spcBef>
                <a:spcPts val="100"/>
              </a:spcBef>
              <a:buNone/>
            </a:pPr>
            <a:r>
              <a:rPr lang="en-US" altLang="en-US" sz="2200" dirty="0">
                <a:solidFill>
                  <a:srgbClr val="C00000"/>
                </a:solidFill>
              </a:rPr>
              <a:t>		 o</a:t>
            </a:r>
            <a:r>
              <a:rPr lang="en-US" altLang="en-US" sz="2200" dirty="0"/>
              <a:t> </a:t>
            </a:r>
            <a:r>
              <a:rPr lang="en-US" altLang="en-US" sz="2200" dirty="0">
                <a:cs typeface="Times New Roman" panose="02020603050405020304" pitchFamily="18" charset="0"/>
              </a:rPr>
              <a:t>starts from its declaration to the end of the containing block.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en-US" sz="2200" dirty="0">
                <a:cs typeface="Times New Roman" panose="02020603050405020304" pitchFamily="18" charset="0"/>
              </a:rPr>
              <a:t>You can declare a local variable with the same name in different blocks.</a:t>
            </a:r>
          </a:p>
          <a:p>
            <a:pPr>
              <a:buFont typeface="Monotype Sorts" pitchFamily="2" charset="2"/>
              <a:buNone/>
            </a:pPr>
            <a:endParaRPr lang="en-US" altLang="en-US" sz="2400" dirty="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B7DE1AF3-0D08-43BF-9424-5A1E9A0BF08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199640" y="-89164"/>
            <a:ext cx="7772400" cy="587305"/>
          </a:xfrm>
        </p:spPr>
        <p:txBody>
          <a:bodyPr>
            <a:normAutofit/>
          </a:bodyPr>
          <a:lstStyle/>
          <a:p>
            <a:pPr algn="ctr"/>
            <a:r>
              <a:rPr lang="en-US" altLang="en-US" b="1" dirty="0">
                <a:solidFill>
                  <a:srgbClr val="C00000"/>
                </a:solidFill>
                <a:sym typeface="Arial"/>
              </a:rPr>
              <a:t>Scope of Variables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1ED1E0-824A-44AA-BE2C-B42865BE6AE6}"/>
              </a:ext>
            </a:extLst>
          </p:cNvPr>
          <p:cNvSpPr/>
          <p:nvPr/>
        </p:nvSpPr>
        <p:spPr>
          <a:xfrm>
            <a:off x="4022130" y="2567692"/>
            <a:ext cx="456628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function1()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96875"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⋮</a:t>
            </a:r>
          </a:p>
          <a:p>
            <a:pPr marL="396875">
              <a:defRPr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1;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 10;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396875"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803275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⋮</a:t>
            </a:r>
          </a:p>
          <a:p>
            <a:pPr marL="803275">
              <a:defRPr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j = 10; j &gt; 0; j--)</a:t>
            </a:r>
          </a:p>
          <a:p>
            <a:pPr marL="803275"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120015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⋮</a:t>
            </a:r>
          </a:p>
          <a:p>
            <a:pPr marL="803275"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803275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⋮</a:t>
            </a:r>
          </a:p>
          <a:p>
            <a:pPr marL="396875"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5061" name="TextBox 45060">
            <a:extLst>
              <a:ext uri="{FF2B5EF4-FFF2-40B4-BE49-F238E27FC236}">
                <a16:creationId xmlns:a16="http://schemas.microsoft.com/office/drawing/2014/main" id="{7D5A85BA-59CA-4AF8-AF45-0D9A9D5D022C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73057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29</a:t>
            </a:fld>
            <a:endParaRPr lang="en-US" altLang="en-US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3CCF39E-FA5B-45A7-8C6A-8073ED860E0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837725" y="45698"/>
            <a:ext cx="7772400" cy="457200"/>
          </a:xfrm>
        </p:spPr>
        <p:txBody>
          <a:bodyPr>
            <a:noAutofit/>
          </a:bodyPr>
          <a:lstStyle/>
          <a:p>
            <a:r>
              <a:rPr lang="en-US" altLang="en-US" b="1" dirty="0">
                <a:solidFill>
                  <a:srgbClr val="C00000"/>
                </a:solidFill>
                <a:sym typeface="Arial"/>
              </a:rPr>
              <a:t>Scope of Local Variables, cont.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B3605819-A49B-439E-966A-50EA6DF78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10914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endParaRPr lang="en-US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0911CA0-42A1-4471-A120-6C97EBD711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5925" y="1393825"/>
          <a:ext cx="8848999" cy="4070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743360" imgH="2176920" progId="Word.Picture.8">
                  <p:embed/>
                </p:oleObj>
              </mc:Choice>
              <mc:Fallback>
                <p:oleObj name="Picture" r:id="rId3" imgW="4743360" imgH="2176920" progId="Word.Picture.8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40911CA0-42A1-4471-A120-6C97EBD711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925" y="1393825"/>
                        <a:ext cx="8848999" cy="407064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A3B7CD1-0E78-4B0B-AA67-0788CA2287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0009" y="1270640"/>
            <a:ext cx="444382" cy="59626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652D694-D2C6-4541-A490-99D6EC1CA2FE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591113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7E86B521-5C7C-45F9-A7A5-F24A3A30C8D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020502" y="-182880"/>
            <a:ext cx="4150995" cy="685800"/>
          </a:xfrm>
        </p:spPr>
        <p:txBody>
          <a:bodyPr>
            <a:normAutofit/>
          </a:bodyPr>
          <a:lstStyle/>
          <a:p>
            <a:pPr algn="ctr"/>
            <a:r>
              <a:rPr lang="en-US" altLang="en-US" b="1" dirty="0">
                <a:solidFill>
                  <a:srgbClr val="C00000"/>
                </a:solidFill>
                <a:sym typeface="Arial"/>
              </a:rPr>
              <a:t>Global Variables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CA799A4D-246A-41C8-8D59-91388E4A2DA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77191" y="1398021"/>
            <a:ext cx="10511356" cy="20602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US" sz="2400" b="1" dirty="0"/>
              <a:t>Global variables</a:t>
            </a:r>
            <a:r>
              <a:rPr lang="en-US" altLang="en-US" sz="2400" dirty="0"/>
              <a:t>: </a:t>
            </a:r>
          </a:p>
          <a:p>
            <a:pPr>
              <a:lnSpc>
                <a:spcPct val="150000"/>
              </a:lnSpc>
            </a:pPr>
            <a:r>
              <a:rPr lang="en-US" altLang="en-US" sz="2400" b="1" i="1" dirty="0">
                <a:solidFill>
                  <a:srgbClr val="C00000"/>
                </a:solidFill>
              </a:rPr>
              <a:t>Declared outside </a:t>
            </a:r>
            <a:r>
              <a:rPr lang="en-US" altLang="en-US" sz="2400" dirty="0"/>
              <a:t>all functions and are accessible to all functions in its scope.</a:t>
            </a:r>
          </a:p>
          <a:p>
            <a:pPr>
              <a:lnSpc>
                <a:spcPct val="150000"/>
              </a:lnSpc>
            </a:pPr>
            <a:r>
              <a:rPr lang="en-US" altLang="en-US" sz="2400" b="1" i="1" dirty="0">
                <a:solidFill>
                  <a:srgbClr val="C00000"/>
                </a:solidFill>
              </a:rPr>
              <a:t>Defaulted to zero </a:t>
            </a:r>
            <a:r>
              <a:rPr lang="en-US" altLang="en-US" sz="2400" dirty="0"/>
              <a:t>if not directly assigned.</a:t>
            </a:r>
          </a:p>
        </p:txBody>
      </p:sp>
      <p:sp>
        <p:nvSpPr>
          <p:cNvPr id="49157" name="Rectangle 4">
            <a:extLst>
              <a:ext uri="{FF2B5EF4-FFF2-40B4-BE49-F238E27FC236}">
                <a16:creationId xmlns:a16="http://schemas.microsoft.com/office/drawing/2014/main" id="{07A048A8-001F-4E63-A007-78DFAC6E5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925" y="2714626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96679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98ADCB8-0C60-422A-87EB-025581D0E2D3}"/>
              </a:ext>
            </a:extLst>
          </p:cNvPr>
          <p:cNvSpPr/>
          <p:nvPr/>
        </p:nvSpPr>
        <p:spPr bwMode="auto">
          <a:xfrm>
            <a:off x="866370" y="3204813"/>
            <a:ext cx="1077145" cy="351938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CE727B-AE52-4DE9-B7AE-678960007230}"/>
              </a:ext>
            </a:extLst>
          </p:cNvPr>
          <p:cNvSpPr/>
          <p:nvPr/>
        </p:nvSpPr>
        <p:spPr bwMode="auto">
          <a:xfrm>
            <a:off x="1756235" y="4689599"/>
            <a:ext cx="652886" cy="351938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937E01-1BA8-46E5-8014-30B2D8E12ACC}"/>
              </a:ext>
            </a:extLst>
          </p:cNvPr>
          <p:cNvSpPr/>
          <p:nvPr/>
        </p:nvSpPr>
        <p:spPr bwMode="auto">
          <a:xfrm>
            <a:off x="5873464" y="5897054"/>
            <a:ext cx="268835" cy="345645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2AF1CB-B3BF-4676-8F76-C0E0173580D4}"/>
              </a:ext>
            </a:extLst>
          </p:cNvPr>
          <p:cNvSpPr/>
          <p:nvPr/>
        </p:nvSpPr>
        <p:spPr>
          <a:xfrm>
            <a:off x="866370" y="524680"/>
            <a:ext cx="914219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t1(); 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6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Fnc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 prototype</a:t>
            </a:r>
            <a:endParaRPr lang="en-US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t2(); 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6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Fnc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 prototype</a:t>
            </a:r>
            <a:endParaRPr lang="en-US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t1();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t2();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y; </a:t>
            </a:r>
            <a:endParaRPr lang="en-US" sz="1600" b="1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en-US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t1()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x = 1;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cout </a:t>
            </a:r>
            <a:r>
              <a:rPr lang="en-US" sz="1600" b="1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"x is "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x </a:t>
            </a:r>
            <a:r>
              <a:rPr lang="en-US" sz="1600" b="1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endl </a:t>
            </a:r>
            <a:r>
              <a:rPr lang="en-US" sz="1600" b="1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"y is "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y </a:t>
            </a:r>
            <a:r>
              <a:rPr lang="en-US" sz="1600" b="1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x++;  y++;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t2()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x = 1;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cout </a:t>
            </a:r>
            <a:r>
              <a:rPr lang="en-US" sz="1600" b="1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"x is "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x </a:t>
            </a:r>
            <a:r>
              <a:rPr lang="en-US" sz="1600" b="1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endl </a:t>
            </a:r>
            <a:r>
              <a:rPr lang="en-US" sz="1600" b="1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"y is "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y </a:t>
            </a:r>
            <a:r>
              <a:rPr lang="en-US" sz="1600" b="1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E0625F-7B64-46B6-B18C-86F25A3F53D2}"/>
              </a:ext>
            </a:extLst>
          </p:cNvPr>
          <p:cNvSpPr/>
          <p:nvPr/>
        </p:nvSpPr>
        <p:spPr>
          <a:xfrm>
            <a:off x="2502341" y="3148423"/>
            <a:ext cx="4237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Global variable, default to 0</a:t>
            </a:r>
            <a:endParaRPr lang="en-US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F761D36-54F7-4084-9658-B2F4879650CA}"/>
              </a:ext>
            </a:extLst>
          </p:cNvPr>
          <p:cNvSpPr/>
          <p:nvPr/>
        </p:nvSpPr>
        <p:spPr bwMode="auto">
          <a:xfrm>
            <a:off x="8072956" y="3996536"/>
            <a:ext cx="652885" cy="558827"/>
          </a:xfrm>
          <a:prstGeom prst="rightArrow">
            <a:avLst/>
          </a:prstGeom>
          <a:solidFill>
            <a:srgbClr val="DAEFC3"/>
          </a:solidFill>
          <a:ln>
            <a:solidFill>
              <a:srgbClr val="C00000"/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E2D7C2-764D-4A91-A0C3-551F361D96C8}"/>
              </a:ext>
            </a:extLst>
          </p:cNvPr>
          <p:cNvGrpSpPr/>
          <p:nvPr/>
        </p:nvGrpSpPr>
        <p:grpSpPr>
          <a:xfrm>
            <a:off x="8561163" y="1467294"/>
            <a:ext cx="1874602" cy="4648883"/>
            <a:chOff x="7037163" y="0"/>
            <a:chExt cx="1874602" cy="464888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77E3768-542C-4A8C-84B4-747FBFC79AEC}"/>
                </a:ext>
              </a:extLst>
            </p:cNvPr>
            <p:cNvSpPr/>
            <p:nvPr/>
          </p:nvSpPr>
          <p:spPr>
            <a:xfrm>
              <a:off x="7529185" y="0"/>
              <a:ext cx="1382580" cy="1077218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bg2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rgbClr val="87FF19"/>
                  </a:solidFill>
                  <a:latin typeface="Consolas" panose="020B0609020204030204" pitchFamily="49" charset="0"/>
                </a:rPr>
                <a:t>x is 1</a:t>
              </a:r>
            </a:p>
            <a:p>
              <a:r>
                <a:rPr lang="en-US" sz="1600" dirty="0">
                  <a:solidFill>
                    <a:srgbClr val="87FF19"/>
                  </a:solidFill>
                  <a:latin typeface="Consolas" panose="020B0609020204030204" pitchFamily="49" charset="0"/>
                </a:rPr>
                <a:t>y is 0</a:t>
              </a:r>
            </a:p>
            <a:p>
              <a:r>
                <a:rPr lang="en-US" sz="1600" dirty="0">
                  <a:solidFill>
                    <a:srgbClr val="87FF19"/>
                  </a:solidFill>
                  <a:latin typeface="Consolas" panose="020B0609020204030204" pitchFamily="49" charset="0"/>
                </a:rPr>
                <a:t>x is 2</a:t>
              </a:r>
            </a:p>
            <a:p>
              <a:r>
                <a:rPr lang="en-US" sz="1600" dirty="0">
                  <a:solidFill>
                    <a:srgbClr val="87FF19"/>
                  </a:solidFill>
                  <a:latin typeface="Consolas" panose="020B0609020204030204" pitchFamily="49" charset="0"/>
                </a:rPr>
                <a:t>y is 1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3EA4177-8389-41A4-A06B-B6174091DA3A}"/>
                </a:ext>
              </a:extLst>
            </p:cNvPr>
            <p:cNvSpPr/>
            <p:nvPr/>
          </p:nvSpPr>
          <p:spPr>
            <a:xfrm>
              <a:off x="7529185" y="1190555"/>
              <a:ext cx="1382580" cy="1077218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bg2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x is 1</a:t>
              </a:r>
            </a:p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y is 0</a:t>
              </a:r>
            </a:p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x is 2</a:t>
              </a:r>
            </a:p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y is 2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6236A0-431B-4F85-9E5F-47700CB887B7}"/>
                </a:ext>
              </a:extLst>
            </p:cNvPr>
            <p:cNvSpPr/>
            <p:nvPr/>
          </p:nvSpPr>
          <p:spPr>
            <a:xfrm>
              <a:off x="7529185" y="2381110"/>
              <a:ext cx="1382580" cy="1077218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bg2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x is 1</a:t>
              </a:r>
            </a:p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y is 0</a:t>
              </a:r>
            </a:p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x is 1</a:t>
              </a:r>
            </a:p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y is 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530DC18-EC7A-4ECF-839A-7ED47C4EC069}"/>
                </a:ext>
              </a:extLst>
            </p:cNvPr>
            <p:cNvSpPr/>
            <p:nvPr/>
          </p:nvSpPr>
          <p:spPr>
            <a:xfrm>
              <a:off x="7529185" y="3571665"/>
              <a:ext cx="1382580" cy="1077218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bg2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x is 1</a:t>
              </a:r>
            </a:p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y is 0</a:t>
              </a:r>
            </a:p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x is 1</a:t>
              </a:r>
            </a:p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y is 2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8E9905E-C729-4043-BB93-F0615D29F5B6}"/>
                </a:ext>
              </a:extLst>
            </p:cNvPr>
            <p:cNvSpPr/>
            <p:nvPr/>
          </p:nvSpPr>
          <p:spPr>
            <a:xfrm>
              <a:off x="7037163" y="0"/>
              <a:ext cx="4138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/>
                <a:t>A)</a:t>
              </a:r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A593D9C-B63C-421C-B2FA-95D268F04418}"/>
                </a:ext>
              </a:extLst>
            </p:cNvPr>
            <p:cNvSpPr/>
            <p:nvPr/>
          </p:nvSpPr>
          <p:spPr>
            <a:xfrm>
              <a:off x="7037163" y="1190555"/>
              <a:ext cx="389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/>
                <a:t>B)</a:t>
              </a:r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82B3AB2-CE04-4940-A9E5-51A2350BE56D}"/>
                </a:ext>
              </a:extLst>
            </p:cNvPr>
            <p:cNvSpPr/>
            <p:nvPr/>
          </p:nvSpPr>
          <p:spPr>
            <a:xfrm>
              <a:off x="7037163" y="3571665"/>
              <a:ext cx="43313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/>
                <a:t>D)</a:t>
              </a:r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DBFD676-6D4B-4317-A3CD-A81D9D8F36C2}"/>
                </a:ext>
              </a:extLst>
            </p:cNvPr>
            <p:cNvSpPr/>
            <p:nvPr/>
          </p:nvSpPr>
          <p:spPr>
            <a:xfrm>
              <a:off x="7037163" y="2374866"/>
              <a:ext cx="42351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/>
                <a:t>C)</a:t>
              </a:r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7AC7B83-9607-4521-A116-8E57B983D4B4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31</a:t>
            </a:fld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7EEC433-294A-7105-4C5F-9E464981D663}"/>
              </a:ext>
            </a:extLst>
          </p:cNvPr>
          <p:cNvSpPr txBox="1">
            <a:spLocks noChangeArrowheads="1"/>
          </p:cNvSpPr>
          <p:nvPr/>
        </p:nvSpPr>
        <p:spPr>
          <a:xfrm>
            <a:off x="4020502" y="-182880"/>
            <a:ext cx="4150995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en-US" b="1" dirty="0">
                <a:solidFill>
                  <a:srgbClr val="C00000"/>
                </a:solidFill>
                <a:sym typeface="Arial"/>
              </a:rPr>
              <a:t>Global Variables</a:t>
            </a:r>
          </a:p>
        </p:txBody>
      </p:sp>
    </p:spTree>
    <p:extLst>
      <p:ext uri="{BB962C8B-B14F-4D97-AF65-F5344CB8AC3E}">
        <p14:creationId xmlns:p14="http://schemas.microsoft.com/office/powerpoint/2010/main" val="4248366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  <p:bldP spid="20" grpId="0" animBg="1"/>
      <p:bldP spid="6" grpId="0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79263" cy="56769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6" name="Picture 5" descr="&lt;strong&gt;Thank you PNG&lt;/strong&gt;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373" y="3928010"/>
            <a:ext cx="3543824" cy="8859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B2DC1F-F7EA-6225-D949-BFC44BE51E80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290" y="1005839"/>
            <a:ext cx="2713990" cy="9789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FC8A1C-A436-42C0-AC33-FAFFFAF219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5C8BF1-B0E4-49A1-808F-40F2AD30E743}">
  <ds:schemaRefs>
    <ds:schemaRef ds:uri="http://schemas.microsoft.com/office/2006/metadata/properties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E3852F5D-AAE7-473B-9767-8875B60BC6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1628</TotalTime>
  <Words>2397</Words>
  <Application>Microsoft Office PowerPoint</Application>
  <PresentationFormat>Widescreen</PresentationFormat>
  <Paragraphs>424</Paragraphs>
  <Slides>32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Calibri</vt:lpstr>
      <vt:lpstr>Consolas</vt:lpstr>
      <vt:lpstr>Gill Sans MT</vt:lpstr>
      <vt:lpstr>Monotype Sorts</vt:lpstr>
      <vt:lpstr>Times New Roman</vt:lpstr>
      <vt:lpstr>Wingdings</vt:lpstr>
      <vt:lpstr>Wingdings 2</vt:lpstr>
      <vt:lpstr>Dividend</vt:lpstr>
      <vt:lpstr>Picture</vt:lpstr>
      <vt:lpstr>Lectures 8  Functions</vt:lpstr>
      <vt:lpstr>Course Learning Objectives</vt:lpstr>
      <vt:lpstr>PowerPoint Presentation</vt:lpstr>
      <vt:lpstr>PowerPoint Presentation</vt:lpstr>
      <vt:lpstr>PowerPoint Presentation</vt:lpstr>
      <vt:lpstr>C++ Libraries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Opening Problem (Function Idea)</vt:lpstr>
      <vt:lpstr>An Alternative</vt:lpstr>
      <vt:lpstr>An Alternative</vt:lpstr>
      <vt:lpstr>An Alternative</vt:lpstr>
      <vt:lpstr>PowerPoint Presentation</vt:lpstr>
      <vt:lpstr>Overloading Functions</vt:lpstr>
      <vt:lpstr>PowerPoint Presentation</vt:lpstr>
      <vt:lpstr>Ambiguous Invocation</vt:lpstr>
      <vt:lpstr>Pass by Value</vt:lpstr>
      <vt:lpstr>Pass by Value, cont.</vt:lpstr>
      <vt:lpstr>Pass by Reference</vt:lpstr>
      <vt:lpstr>Pass by Reference, cont.</vt:lpstr>
      <vt:lpstr>Reference Variables Example</vt:lpstr>
      <vt:lpstr>PowerPoint Presentation</vt:lpstr>
      <vt:lpstr>Scope of Variables</vt:lpstr>
      <vt:lpstr>Scope of Local Variables, cont.</vt:lpstr>
      <vt:lpstr>Global Variables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DR-Yasser Elawady</dc:creator>
  <cp:lastModifiedBy>أبو مالك هيثم الغريب</cp:lastModifiedBy>
  <cp:revision>50</cp:revision>
  <dcterms:created xsi:type="dcterms:W3CDTF">2020-10-08T13:37:14Z</dcterms:created>
  <dcterms:modified xsi:type="dcterms:W3CDTF">2025-11-26T08:50:27Z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