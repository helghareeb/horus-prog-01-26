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13"/>
  </p:notesMasterIdLst>
  <p:sldIdLst>
    <p:sldId id="256" r:id="rId5"/>
    <p:sldId id="333" r:id="rId6"/>
    <p:sldId id="345" r:id="rId7"/>
    <p:sldId id="328" r:id="rId8"/>
    <p:sldId id="341" r:id="rId9"/>
    <p:sldId id="342" r:id="rId10"/>
    <p:sldId id="344" r:id="rId11"/>
    <p:sldId id="338" r:id="rId12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01695C8B-176E-448B-A2E4-2D277F1E5C10}">
  <a:tblStyle styleId="{01695C8B-176E-448B-A2E4-2D277F1E5C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3410" autoAdjust="0"/>
  </p:normalViewPr>
  <p:slideViewPr>
    <p:cSldViewPr snapToGrid="0">
      <p:cViewPr varScale="1">
        <p:scale>
          <a:sx n="102" d="100"/>
          <a:sy n="102" d="100"/>
        </p:scale>
        <p:origin x="336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3" r:id="rId3"/>
    <p:sldLayoutId id="2147483676" r:id="rId4"/>
    <p:sldLayoutId id="214748367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+mj-lt"/>
              </a:rPr>
              <a:t>Introduction to </a:t>
            </a:r>
            <a:r>
              <a:rPr lang="en" dirty="0">
                <a:latin typeface="+mj-lt"/>
              </a:rPr>
              <a:t>C++ </a:t>
            </a:r>
            <a:r>
              <a:rPr lang="en" dirty="0">
                <a:solidFill>
                  <a:schemeClr val="dk1"/>
                </a:solidFill>
                <a:latin typeface="+mj-lt"/>
              </a:rPr>
              <a:t>Programming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41BB-E69A-D3B1-5967-60F90AB9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3380"/>
            <a:ext cx="7704000" cy="572700"/>
          </a:xfrm>
        </p:spPr>
        <p:txBody>
          <a:bodyPr/>
          <a:lstStyle/>
          <a:p>
            <a:r>
              <a:rPr lang="en-US" dirty="0"/>
              <a:t>Common Data Types in C++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DE9F9E-EED4-0D60-7993-19D3B22F8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86015"/>
              </p:ext>
            </p:extLst>
          </p:nvPr>
        </p:nvGraphicFramePr>
        <p:xfrm>
          <a:off x="1296649" y="1459230"/>
          <a:ext cx="6323352" cy="261059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07784">
                  <a:extLst>
                    <a:ext uri="{9D8B030D-6E8A-4147-A177-3AD203B41FA5}">
                      <a16:colId xmlns:a16="http://schemas.microsoft.com/office/drawing/2014/main" val="261391555"/>
                    </a:ext>
                  </a:extLst>
                </a:gridCol>
                <a:gridCol w="2107784">
                  <a:extLst>
                    <a:ext uri="{9D8B030D-6E8A-4147-A177-3AD203B41FA5}">
                      <a16:colId xmlns:a16="http://schemas.microsoft.com/office/drawing/2014/main" val="2599759744"/>
                    </a:ext>
                  </a:extLst>
                </a:gridCol>
                <a:gridCol w="2107784">
                  <a:extLst>
                    <a:ext uri="{9D8B030D-6E8A-4147-A177-3AD203B41FA5}">
                      <a16:colId xmlns:a16="http://schemas.microsoft.com/office/drawing/2014/main" val="2461293826"/>
                    </a:ext>
                  </a:extLst>
                </a:gridCol>
              </a:tblGrid>
              <a:tr h="384221">
                <a:tc>
                  <a:txBody>
                    <a:bodyPr/>
                    <a:lstStyle/>
                    <a:p>
                      <a:r>
                        <a:rPr lang="en-US" b="1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03346"/>
                  </a:ext>
                </a:extLst>
              </a:tr>
              <a:tr h="384221">
                <a:tc>
                  <a:txBody>
                    <a:bodyPr/>
                    <a:lstStyle/>
                    <a:p>
                      <a:r>
                        <a:rPr lang="en-US" sz="14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 age = 18;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 (whole number)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513672"/>
                  </a:ext>
                </a:extLst>
              </a:tr>
              <a:tr h="536857">
                <a:tc>
                  <a:txBody>
                    <a:bodyPr/>
                    <a:lstStyle/>
                    <a:p>
                      <a:r>
                        <a:rPr lang="en-US" sz="14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float pi = 3.14;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Decimal number (less precision)</a:t>
                      </a:r>
                      <a:r>
                        <a:rPr lang="en-US" dirty="0"/>
                        <a:t> to 7 digits.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475470"/>
                  </a:ext>
                </a:extLst>
              </a:tr>
              <a:tr h="536857">
                <a:tc>
                  <a:txBody>
                    <a:bodyPr/>
                    <a:lstStyle/>
                    <a:p>
                      <a:r>
                        <a:rPr lang="en-US" sz="14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double avg = 75.8;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Decimal (more precision) to 16 digits.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990606"/>
                  </a:ext>
                </a:extLst>
              </a:tr>
              <a:tr h="384221"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 grade = 'B';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57348"/>
                  </a:ext>
                </a:extLst>
              </a:tr>
              <a:tr h="384221">
                <a:tc>
                  <a:txBody>
                    <a:bodyPr/>
                    <a:lstStyle/>
                    <a:p>
                      <a:r>
                        <a:rPr lang="en-US" sz="1400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string name = "Ali";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2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38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DF3E-D872-02DE-AFAA-0EDB5629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180-2EAB-935A-ACEB-D51C7D91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3380"/>
            <a:ext cx="7704000" cy="572700"/>
          </a:xfrm>
        </p:spPr>
        <p:txBody>
          <a:bodyPr/>
          <a:lstStyle/>
          <a:p>
            <a:r>
              <a:rPr lang="en-US" dirty="0"/>
              <a:t>Problem solving: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EF364-D256-3CBE-55A2-5BF446292564}"/>
              </a:ext>
            </a:extLst>
          </p:cNvPr>
          <p:cNvSpPr txBox="1"/>
          <p:nvPr/>
        </p:nvSpPr>
        <p:spPr>
          <a:xfrm>
            <a:off x="843379" y="1522440"/>
            <a:ext cx="57349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Ask the user for two numbers and display their product.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46C3-B948-750B-6687-6F205A5B42AF}"/>
              </a:ext>
            </a:extLst>
          </p:cNvPr>
          <p:cNvSpPr txBox="1"/>
          <p:nvPr/>
        </p:nvSpPr>
        <p:spPr>
          <a:xfrm>
            <a:off x="843378" y="2221188"/>
            <a:ext cx="6224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Ask the user to enter their name, current year, and birth year, then calculates and displays their age with their name.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B56A1F-E4C7-79C0-609E-9186254B23A8}"/>
              </a:ext>
            </a:extLst>
          </p:cNvPr>
          <p:cNvGraphicFramePr>
            <a:graphicFrameLocks noGrp="1"/>
          </p:cNvGraphicFramePr>
          <p:nvPr/>
        </p:nvGraphicFramePr>
        <p:xfrm>
          <a:off x="843379" y="2919936"/>
          <a:ext cx="7681912" cy="335280"/>
        </p:xfrm>
        <a:graphic>
          <a:graphicData uri="http://schemas.openxmlformats.org/drawingml/2006/table">
            <a:tbl>
              <a:tblPr/>
              <a:tblGrid>
                <a:gridCol w="7681912">
                  <a:extLst>
                    <a:ext uri="{9D8B030D-6E8A-4147-A177-3AD203B41FA5}">
                      <a16:colId xmlns:a16="http://schemas.microsoft.com/office/drawing/2014/main" val="4250607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3. Convert temperature from Celsius to Fahrenheit.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97603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08F854-7146-510B-482D-F76FD3F5B12C}"/>
              </a:ext>
            </a:extLst>
          </p:cNvPr>
          <p:cNvGraphicFramePr>
            <a:graphicFrameLocks noGrp="1"/>
          </p:cNvGraphicFramePr>
          <p:nvPr/>
        </p:nvGraphicFramePr>
        <p:xfrm>
          <a:off x="843379" y="3369189"/>
          <a:ext cx="7681912" cy="579120"/>
        </p:xfrm>
        <a:graphic>
          <a:graphicData uri="http://schemas.openxmlformats.org/drawingml/2006/table">
            <a:tbl>
              <a:tblPr/>
              <a:tblGrid>
                <a:gridCol w="7681912">
                  <a:extLst>
                    <a:ext uri="{9D8B030D-6E8A-4147-A177-3AD203B41FA5}">
                      <a16:colId xmlns:a16="http://schemas.microsoft.com/office/drawing/2014/main" val="4250607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4. Ask the user for the length and width of a rectangle, then calculate and print the area and perimeter.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97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0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512699-C918-465F-0FF0-ADD99EDB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5" t="9973" r="17812" b="6832"/>
          <a:stretch>
            <a:fillRect/>
          </a:stretch>
        </p:blipFill>
        <p:spPr>
          <a:xfrm>
            <a:off x="1671689" y="1596453"/>
            <a:ext cx="5800622" cy="28457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4AFCF2-7F13-2359-94F3-26A4B873755F}"/>
              </a:ext>
            </a:extLst>
          </p:cNvPr>
          <p:cNvSpPr txBox="1"/>
          <p:nvPr/>
        </p:nvSpPr>
        <p:spPr>
          <a:xfrm>
            <a:off x="1522811" y="701336"/>
            <a:ext cx="2576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First program</a:t>
            </a:r>
          </a:p>
        </p:txBody>
      </p:sp>
    </p:spTree>
    <p:extLst>
      <p:ext uri="{BB962C8B-B14F-4D97-AF65-F5344CB8AC3E}">
        <p14:creationId xmlns:p14="http://schemas.microsoft.com/office/powerpoint/2010/main" val="46872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AB7D0-007F-D0C4-4788-06131616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34B8B0-07FB-D6EF-6B54-EA8D1D6CF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" t="2458" b="458"/>
          <a:stretch>
            <a:fillRect/>
          </a:stretch>
        </p:blipFill>
        <p:spPr>
          <a:xfrm>
            <a:off x="1746353" y="1536492"/>
            <a:ext cx="5725957" cy="3028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DD4946-FF1D-0056-6788-10A9A743228F}"/>
              </a:ext>
            </a:extLst>
          </p:cNvPr>
          <p:cNvSpPr txBox="1"/>
          <p:nvPr/>
        </p:nvSpPr>
        <p:spPr>
          <a:xfrm>
            <a:off x="1500326" y="701336"/>
            <a:ext cx="307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Second program</a:t>
            </a:r>
          </a:p>
        </p:txBody>
      </p:sp>
    </p:spTree>
    <p:extLst>
      <p:ext uri="{BB962C8B-B14F-4D97-AF65-F5344CB8AC3E}">
        <p14:creationId xmlns:p14="http://schemas.microsoft.com/office/powerpoint/2010/main" val="241070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94A5-150F-0295-1B76-AECEEA30D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04C1F3-BD11-CF39-AFB9-85CF8D85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9" r="11245"/>
          <a:stretch>
            <a:fillRect/>
          </a:stretch>
        </p:blipFill>
        <p:spPr>
          <a:xfrm>
            <a:off x="1671689" y="1603948"/>
            <a:ext cx="5800622" cy="28457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440A0A-9FFE-1D09-46CE-5D2FAC44C4E3}"/>
              </a:ext>
            </a:extLst>
          </p:cNvPr>
          <p:cNvSpPr txBox="1"/>
          <p:nvPr/>
        </p:nvSpPr>
        <p:spPr>
          <a:xfrm>
            <a:off x="1500326" y="701336"/>
            <a:ext cx="245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Third program</a:t>
            </a:r>
          </a:p>
        </p:txBody>
      </p:sp>
    </p:spTree>
    <p:extLst>
      <p:ext uri="{BB962C8B-B14F-4D97-AF65-F5344CB8AC3E}">
        <p14:creationId xmlns:p14="http://schemas.microsoft.com/office/powerpoint/2010/main" val="255259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0306-2820-791C-0766-59BCD439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D92ECD-4C41-4227-A474-0656377D42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8" t="263" r="12478" b="-263"/>
          <a:stretch>
            <a:fillRect/>
          </a:stretch>
        </p:blipFill>
        <p:spPr>
          <a:xfrm>
            <a:off x="1671689" y="1603948"/>
            <a:ext cx="5793414" cy="28457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0A2ADB-AFFE-39D9-84DF-149747562381}"/>
              </a:ext>
            </a:extLst>
          </p:cNvPr>
          <p:cNvSpPr txBox="1"/>
          <p:nvPr/>
        </p:nvSpPr>
        <p:spPr>
          <a:xfrm>
            <a:off x="1500326" y="701336"/>
            <a:ext cx="2719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Fourth program</a:t>
            </a:r>
          </a:p>
        </p:txBody>
      </p:sp>
    </p:spTree>
    <p:extLst>
      <p:ext uri="{BB962C8B-B14F-4D97-AF65-F5344CB8AC3E}">
        <p14:creationId xmlns:p14="http://schemas.microsoft.com/office/powerpoint/2010/main" val="157608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0A5A-2A1C-1E67-F514-2F02EEC8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729838"/>
            <a:ext cx="7704000" cy="572700"/>
          </a:xfrm>
        </p:spPr>
        <p:txBody>
          <a:bodyPr/>
          <a:lstStyle/>
          <a:p>
            <a:pPr algn="l"/>
            <a:r>
              <a:rPr lang="en-US" sz="2400" dirty="0"/>
              <a:t>Home Task: Student Grade Checker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DE09B-A528-1EDB-FF49-6DF0BB999B85}"/>
              </a:ext>
            </a:extLst>
          </p:cNvPr>
          <p:cNvSpPr txBox="1"/>
          <p:nvPr/>
        </p:nvSpPr>
        <p:spPr>
          <a:xfrm>
            <a:off x="1267776" y="1786920"/>
            <a:ext cx="66084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Write a C++ program that:</a:t>
            </a:r>
            <a:endParaRPr lang="ar-EG" sz="1600" b="1" dirty="0"/>
          </a:p>
          <a:p>
            <a:endParaRPr lang="en-US" sz="1600" dirty="0"/>
          </a:p>
          <a:p>
            <a:pPr marL="400050" indent="-400050">
              <a:buFont typeface="+mj-lt"/>
              <a:buAutoNum type="romanLcPeriod"/>
            </a:pPr>
            <a:r>
              <a:rPr lang="en-US" sz="1600" dirty="0"/>
              <a:t>Asks the user to </a:t>
            </a:r>
            <a:r>
              <a:rPr lang="en-US" sz="1600" b="1" dirty="0"/>
              <a:t>enter their name</a:t>
            </a:r>
            <a:r>
              <a:rPr lang="en-US" sz="1600" dirty="0"/>
              <a:t>.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/>
              <a:t>Asks the user to </a:t>
            </a:r>
            <a:r>
              <a:rPr lang="en-US" sz="1600" b="1" dirty="0"/>
              <a:t>enter their grade</a:t>
            </a:r>
            <a:r>
              <a:rPr lang="en-US" sz="1600" dirty="0"/>
              <a:t> in one subject.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/>
              <a:t>Displays both the </a:t>
            </a:r>
            <a:r>
              <a:rPr lang="en-US" sz="1600" b="1" dirty="0"/>
              <a:t>name</a:t>
            </a:r>
            <a:r>
              <a:rPr lang="en-US" sz="1600" dirty="0"/>
              <a:t> and the </a:t>
            </a:r>
            <a:r>
              <a:rPr lang="en-US" sz="1600" b="1" dirty="0"/>
              <a:t>grade.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1162653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52D19C52B9B740967287BB916612AF" ma:contentTypeVersion="10" ma:contentTypeDescription="Create a new document." ma:contentTypeScope="" ma:versionID="29e28ae6375dac7fbf47728415347747">
  <xsd:schema xmlns:xsd="http://www.w3.org/2001/XMLSchema" xmlns:xs="http://www.w3.org/2001/XMLSchema" xmlns:p="http://schemas.microsoft.com/office/2006/metadata/properties" xmlns:ns3="599ffa52-2d03-4237-a1d1-7b26f4d9cba3" targetNamespace="http://schemas.microsoft.com/office/2006/metadata/properties" ma:root="true" ma:fieldsID="70c36bf369daf21c4c4d4ad79ccd78a0" ns3:_="">
    <xsd:import namespace="599ffa52-2d03-4237-a1d1-7b26f4d9cb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ffa52-2d03-4237-a1d1-7b26f4d9cb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99ffa52-2d03-4237-a1d1-7b26f4d9cba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C186C3-4A25-4ACC-BB87-B9581DAEBD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9ffa52-2d03-4237-a1d1-7b26f4d9cb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9D10A3-37E8-4B30-9670-5557F9B7A628}">
  <ds:schemaRefs>
    <ds:schemaRef ds:uri="http://schemas.microsoft.com/office/infopath/2007/PartnerControls"/>
    <ds:schemaRef ds:uri="http://www.w3.org/XML/1998/namespace"/>
    <ds:schemaRef ds:uri="599ffa52-2d03-4237-a1d1-7b26f4d9cba3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9597E83-D0FE-4A83-97ED-68351177AE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196</Words>
  <Application>Microsoft Office PowerPoint</Application>
  <PresentationFormat>On-screen Show (16:9)</PresentationFormat>
  <Paragraphs>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Poppins</vt:lpstr>
      <vt:lpstr>Arial</vt:lpstr>
      <vt:lpstr>IBM Plex Mono</vt:lpstr>
      <vt:lpstr>Introduction to Coding Workshop by Slidesgo</vt:lpstr>
      <vt:lpstr>Introduction to C++ Programming</vt:lpstr>
      <vt:lpstr>Common Data Types in C++</vt:lpstr>
      <vt:lpstr>Problem solving:</vt:lpstr>
      <vt:lpstr>PowerPoint Presentation</vt:lpstr>
      <vt:lpstr>PowerPoint Presentation</vt:lpstr>
      <vt:lpstr>PowerPoint Presentation</vt:lpstr>
      <vt:lpstr>PowerPoint Presentation</vt:lpstr>
      <vt:lpstr>Home Task: Student Grade Checker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Hala Mohamed</dc:creator>
  <cp:lastModifiedBy>Hala Mohamed</cp:lastModifiedBy>
  <cp:revision>56</cp:revision>
  <cp:lastPrinted>2025-09-25T16:06:54Z</cp:lastPrinted>
  <dcterms:modified xsi:type="dcterms:W3CDTF">2025-10-06T19:14:39Z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0x0101008052D19C52B9B740967287BB916612AF</vt:lpwstr>
  </property>
</Properties>
</file>